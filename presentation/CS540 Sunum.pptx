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Lato"/>
      <p:regular r:id="rId26"/>
      <p:bold r:id="rId27"/>
      <p:italic r:id="rId28"/>
      <p:boldItalic r:id="rId29"/>
    </p:embeddedFont>
    <p:embeddedFont>
      <p:font typeface="Roboto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Raleway-regular.fntdata"/><Relationship Id="rId23" Type="http://schemas.openxmlformats.org/officeDocument/2006/relationships/font" Target="fonts/Raleway-bold.fntdata"/><Relationship Id="rId24" Type="http://schemas.openxmlformats.org/officeDocument/2006/relationships/font" Target="fonts/Raleway-italic.fntdata"/><Relationship Id="rId25" Type="http://schemas.openxmlformats.org/officeDocument/2006/relationships/font" Target="fonts/Raleway-boldItalic.fntdata"/><Relationship Id="rId26" Type="http://schemas.openxmlformats.org/officeDocument/2006/relationships/font" Target="fonts/Lato-regular.fntdata"/><Relationship Id="rId27" Type="http://schemas.openxmlformats.org/officeDocument/2006/relationships/font" Target="fonts/Lato-bold.fntdata"/><Relationship Id="rId28" Type="http://schemas.openxmlformats.org/officeDocument/2006/relationships/font" Target="fonts/Lato-italic.fntdata"/><Relationship Id="rId29" Type="http://schemas.openxmlformats.org/officeDocument/2006/relationships/font" Target="fonts/Lato-boldItalic.fntdata"/><Relationship Id="rId30" Type="http://schemas.openxmlformats.org/officeDocument/2006/relationships/font" Target="fonts/RobotoMono-regular.fntdata"/><Relationship Id="rId31" Type="http://schemas.openxmlformats.org/officeDocument/2006/relationships/font" Target="fonts/RobotoMono-bold.fntdata"/><Relationship Id="rId32" Type="http://schemas.openxmlformats.org/officeDocument/2006/relationships/font" Target="fonts/RobotoMono-italic.fntdata"/><Relationship Id="rId33"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b421eba8e7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91" name="Google Shape;91;g3b421eba8e7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43a17a10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98" name="Google Shape;98;g3b43a17a10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421eba8e7_1_1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05" name="Google Shape;105;g3b421eba8e7_1_1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43a17a10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15" name="Google Shape;115;g3b43a17a10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421eba8e7_1_1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22" name="Google Shape;122;g3b421eba8e7_1_1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421eba8e7_1_1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31" name="Google Shape;131;g3b421eba8e7_1_1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421eba8e7_1_1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40" name="Google Shape;140;g3b421eba8e7_1_1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421eba8e7_1_1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47" name="Google Shape;147;g3b421eba8e7_1_1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46f0b695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57" name="Google Shape;157;g3b46f0b695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b421eba8e7_1_1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66" name="Google Shape;166;g3b421eba8e7_1_1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46f0b695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75" name="Google Shape;175;g3b46f0b695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46f0b695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83" name="Google Shape;183;g3b46f0b695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421eba8e7_1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95" name="Google Shape;195;g3b421eba8e7_1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b421eba8e7_1_1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202" name="Google Shape;202;g3b421eba8e7_1_1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421eba8e7_1_1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209" name="Google Shape;209;g3b421eba8e7_1_1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658210" y="1345525"/>
            <a:ext cx="7688100" cy="1664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en-CA" sz="2556">
                <a:solidFill>
                  <a:srgbClr val="555555"/>
                </a:solidFill>
                <a:highlight>
                  <a:schemeClr val="lt1"/>
                </a:highlight>
                <a:latin typeface="Arial"/>
                <a:ea typeface="Arial"/>
                <a:cs typeface="Arial"/>
                <a:sym typeface="Arial"/>
              </a:rPr>
              <a:t>CS 540 : Machine Learning in Finance</a:t>
            </a:r>
            <a:endParaRPr sz="2556">
              <a:solidFill>
                <a:srgbClr val="555555"/>
              </a:solidFill>
              <a:highlight>
                <a:schemeClr val="lt1"/>
              </a:highlight>
              <a:latin typeface="Arial"/>
              <a:ea typeface="Arial"/>
              <a:cs typeface="Arial"/>
              <a:sym typeface="Arial"/>
            </a:endParaRPr>
          </a:p>
          <a:p>
            <a:pPr indent="0" lvl="0" marL="0" rtl="0" algn="l">
              <a:lnSpc>
                <a:spcPct val="115000"/>
              </a:lnSpc>
              <a:spcBef>
                <a:spcPts val="2400"/>
              </a:spcBef>
              <a:spcAft>
                <a:spcPts val="0"/>
              </a:spcAft>
              <a:buNone/>
            </a:pPr>
            <a:r>
              <a:rPr lang="en-CA" sz="2556">
                <a:solidFill>
                  <a:srgbClr val="555555"/>
                </a:solidFill>
                <a:highlight>
                  <a:schemeClr val="lt1"/>
                </a:highlight>
                <a:latin typeface="Arial"/>
                <a:ea typeface="Arial"/>
                <a:cs typeface="Arial"/>
                <a:sym typeface="Arial"/>
              </a:rPr>
              <a:t>Bitcoin Price Direction for Using Sentiment Signals from News and Social Media</a:t>
            </a:r>
            <a:endParaRPr sz="2556">
              <a:solidFill>
                <a:srgbClr val="555555"/>
              </a:solidFill>
              <a:highlight>
                <a:schemeClr val="lt1"/>
              </a:highlight>
              <a:latin typeface="Arial"/>
              <a:ea typeface="Arial"/>
              <a:cs typeface="Arial"/>
              <a:sym typeface="Arial"/>
            </a:endParaRPr>
          </a:p>
          <a:p>
            <a:pPr indent="0" lvl="0" marL="0" rtl="0" algn="l">
              <a:lnSpc>
                <a:spcPct val="115000"/>
              </a:lnSpc>
              <a:spcBef>
                <a:spcPts val="2400"/>
              </a:spcBef>
              <a:spcAft>
                <a:spcPts val="0"/>
              </a:spcAft>
              <a:buNone/>
            </a:pPr>
            <a:r>
              <a:t/>
            </a:r>
            <a:endParaRPr sz="2222">
              <a:solidFill>
                <a:srgbClr val="555555"/>
              </a:solidFill>
              <a:highlight>
                <a:schemeClr val="lt1"/>
              </a:highlight>
              <a:latin typeface="Arial"/>
              <a:ea typeface="Arial"/>
              <a:cs typeface="Arial"/>
              <a:sym typeface="Arial"/>
            </a:endParaRPr>
          </a:p>
          <a:p>
            <a:pPr indent="0" lvl="0" marL="0" rtl="0" algn="l">
              <a:lnSpc>
                <a:spcPct val="115000"/>
              </a:lnSpc>
              <a:spcBef>
                <a:spcPts val="2400"/>
              </a:spcBef>
              <a:spcAft>
                <a:spcPts val="0"/>
              </a:spcAft>
              <a:buNone/>
            </a:pPr>
            <a:r>
              <a:t/>
            </a:r>
            <a:endParaRPr sz="2222">
              <a:solidFill>
                <a:srgbClr val="555555"/>
              </a:solidFill>
              <a:highlight>
                <a:schemeClr val="lt1"/>
              </a:highlight>
              <a:latin typeface="Arial"/>
              <a:ea typeface="Arial"/>
              <a:cs typeface="Arial"/>
              <a:sym typeface="Arial"/>
            </a:endParaRPr>
          </a:p>
          <a:p>
            <a:pPr indent="0" lvl="0" marL="0" rtl="0" algn="l">
              <a:lnSpc>
                <a:spcPct val="115000"/>
              </a:lnSpc>
              <a:spcBef>
                <a:spcPts val="2400"/>
              </a:spcBef>
              <a:spcAft>
                <a:spcPts val="0"/>
              </a:spcAft>
              <a:buNone/>
            </a:pPr>
            <a:r>
              <a:t/>
            </a:r>
            <a:endParaRPr sz="2222">
              <a:solidFill>
                <a:srgbClr val="555555"/>
              </a:solidFill>
              <a:highlight>
                <a:schemeClr val="lt1"/>
              </a:highlight>
              <a:latin typeface="Arial"/>
              <a:ea typeface="Arial"/>
              <a:cs typeface="Arial"/>
              <a:sym typeface="Arial"/>
            </a:endParaRPr>
          </a:p>
          <a:p>
            <a:pPr indent="0" lvl="0" marL="0" rtl="0" algn="l">
              <a:lnSpc>
                <a:spcPct val="115000"/>
              </a:lnSpc>
              <a:spcBef>
                <a:spcPts val="2400"/>
              </a:spcBef>
              <a:spcAft>
                <a:spcPts val="0"/>
              </a:spcAft>
              <a:buNone/>
            </a:pPr>
            <a:r>
              <a:t/>
            </a:r>
            <a:endParaRPr sz="2222">
              <a:solidFill>
                <a:srgbClr val="555555"/>
              </a:solidFill>
              <a:highlight>
                <a:schemeClr val="lt1"/>
              </a:highlight>
              <a:latin typeface="Arial"/>
              <a:ea typeface="Arial"/>
              <a:cs typeface="Arial"/>
              <a:sym typeface="Arial"/>
            </a:endParaRPr>
          </a:p>
          <a:p>
            <a:pPr indent="0" lvl="0" marL="0" rtl="0" algn="l">
              <a:lnSpc>
                <a:spcPct val="115000"/>
              </a:lnSpc>
              <a:spcBef>
                <a:spcPts val="2400"/>
              </a:spcBef>
              <a:spcAft>
                <a:spcPts val="0"/>
              </a:spcAft>
              <a:buNone/>
            </a:pPr>
            <a:r>
              <a:t/>
            </a:r>
            <a:endParaRPr sz="3000">
              <a:solidFill>
                <a:srgbClr val="555555"/>
              </a:solidFill>
              <a:highlight>
                <a:schemeClr val="lt1"/>
              </a:highlight>
              <a:latin typeface="Arial"/>
              <a:ea typeface="Arial"/>
              <a:cs typeface="Arial"/>
              <a:sym typeface="Arial"/>
            </a:endParaRPr>
          </a:p>
          <a:p>
            <a:pPr indent="0" lvl="0" marL="0" rtl="0" algn="l">
              <a:spcBef>
                <a:spcPts val="600"/>
              </a:spcBef>
              <a:spcAft>
                <a:spcPts val="0"/>
              </a:spcAft>
              <a:buNone/>
            </a:pPr>
            <a:r>
              <a:t/>
            </a:r>
            <a:endParaRPr/>
          </a:p>
        </p:txBody>
      </p:sp>
      <p:sp>
        <p:nvSpPr>
          <p:cNvPr id="87" name="Google Shape;87;p13"/>
          <p:cNvSpPr txBox="1"/>
          <p:nvPr>
            <p:ph idx="1" type="subTitle"/>
          </p:nvPr>
        </p:nvSpPr>
        <p:spPr>
          <a:xfrm>
            <a:off x="620850" y="3241375"/>
            <a:ext cx="8043000" cy="14658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935"/>
              <a:buNone/>
            </a:pPr>
            <a:r>
              <a:rPr lang="en-CA" sz="2260">
                <a:latin typeface="Arial"/>
                <a:ea typeface="Arial"/>
                <a:cs typeface="Arial"/>
                <a:sym typeface="Arial"/>
              </a:rPr>
              <a:t>Team member</a:t>
            </a:r>
            <a:endParaRPr sz="2260">
              <a:latin typeface="Arial"/>
              <a:ea typeface="Arial"/>
              <a:cs typeface="Arial"/>
              <a:sym typeface="Arial"/>
            </a:endParaRPr>
          </a:p>
          <a:p>
            <a:pPr indent="0" lvl="0" marL="0" rtl="0" algn="l">
              <a:lnSpc>
                <a:spcPct val="80000"/>
              </a:lnSpc>
              <a:spcBef>
                <a:spcPts val="0"/>
              </a:spcBef>
              <a:spcAft>
                <a:spcPts val="0"/>
              </a:spcAft>
              <a:buSzPts val="935"/>
              <a:buNone/>
            </a:pPr>
            <a:r>
              <a:rPr lang="en-CA" sz="2260">
                <a:latin typeface="Arial"/>
                <a:ea typeface="Arial"/>
                <a:cs typeface="Arial"/>
                <a:sym typeface="Arial"/>
              </a:rPr>
              <a:t>Ali Baki Türköz</a:t>
            </a:r>
            <a:endParaRPr sz="2260">
              <a:latin typeface="Arial"/>
              <a:ea typeface="Arial"/>
              <a:cs typeface="Arial"/>
              <a:sym typeface="Arial"/>
            </a:endParaRPr>
          </a:p>
        </p:txBody>
      </p:sp>
      <p:pic>
        <p:nvPicPr>
          <p:cNvPr id="88" name="Google Shape;88;p13"/>
          <p:cNvPicPr preferRelativeResize="0"/>
          <p:nvPr/>
        </p:nvPicPr>
        <p:blipFill>
          <a:blip r:embed="rId3">
            <a:alphaModFix/>
          </a:blip>
          <a:stretch>
            <a:fillRect/>
          </a:stretch>
        </p:blipFill>
        <p:spPr>
          <a:xfrm>
            <a:off x="4478650" y="3452653"/>
            <a:ext cx="4039899" cy="119849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680975" y="6655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latin typeface="Arial"/>
                <a:ea typeface="Arial"/>
                <a:cs typeface="Arial"/>
                <a:sym typeface="Arial"/>
              </a:rPr>
              <a:t>I</a:t>
            </a:r>
            <a:r>
              <a:rPr lang="en-CA">
                <a:latin typeface="Arial"/>
                <a:ea typeface="Arial"/>
                <a:cs typeface="Arial"/>
                <a:sym typeface="Arial"/>
              </a:rPr>
              <a:t>NTRODUCTION</a:t>
            </a:r>
            <a:endParaRPr>
              <a:latin typeface="Arial"/>
              <a:ea typeface="Arial"/>
              <a:cs typeface="Arial"/>
              <a:sym typeface="Arial"/>
            </a:endParaRPr>
          </a:p>
        </p:txBody>
      </p:sp>
      <p:sp>
        <p:nvSpPr>
          <p:cNvPr id="94" name="Google Shape;94;p14"/>
          <p:cNvSpPr txBox="1"/>
          <p:nvPr>
            <p:ph idx="1" type="body"/>
          </p:nvPr>
        </p:nvSpPr>
        <p:spPr>
          <a:xfrm>
            <a:off x="729450" y="1570450"/>
            <a:ext cx="4639200" cy="2926200"/>
          </a:xfrm>
          <a:prstGeom prst="rect">
            <a:avLst/>
          </a:prstGeom>
        </p:spPr>
        <p:txBody>
          <a:bodyPr anchorCtr="0" anchor="t" bIns="91425" lIns="91425" spcFirstLastPara="1" rIns="91425" wrap="square" tIns="91425">
            <a:normAutofit fontScale="92500" lnSpcReduction="10000"/>
          </a:bodyPr>
          <a:lstStyle/>
          <a:p>
            <a:pPr indent="0" lvl="0" marL="0" rtl="0" algn="l">
              <a:spcBef>
                <a:spcPts val="1200"/>
              </a:spcBef>
              <a:spcAft>
                <a:spcPts val="0"/>
              </a:spcAft>
              <a:buNone/>
            </a:pPr>
            <a:r>
              <a:rPr lang="en-CA" sz="1100">
                <a:solidFill>
                  <a:srgbClr val="000000"/>
                </a:solidFill>
                <a:latin typeface="Arial"/>
                <a:ea typeface="Arial"/>
                <a:cs typeface="Arial"/>
                <a:sym typeface="Arial"/>
              </a:rPr>
              <a:t>Cryptocurrencies—especially Bitcoin and Ethereum—trade 24/7 and show high volatility as well as volatility clustering. For this reason, forecasting short-term price movements is important for both academic research and practical use.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CA" sz="1100">
                <a:solidFill>
                  <a:srgbClr val="000000"/>
                </a:solidFill>
                <a:latin typeface="Arial"/>
                <a:ea typeface="Arial"/>
                <a:cs typeface="Arial"/>
                <a:sym typeface="Arial"/>
              </a:rPr>
              <a:t>It is not clear whether these returns are truly predictable, because in an efficient market prices are expected to already reflect public information. However, crypto investors often rely heavily on online channels such as news websites, Twitter, and forums. Therefore, </a:t>
            </a:r>
            <a:r>
              <a:rPr b="1" lang="en-CA" sz="1100">
                <a:solidFill>
                  <a:srgbClr val="000000"/>
                </a:solidFill>
                <a:latin typeface="Arial"/>
                <a:ea typeface="Arial"/>
                <a:cs typeface="Arial"/>
                <a:sym typeface="Arial"/>
              </a:rPr>
              <a:t>news and social-media sentiment and attention measures </a:t>
            </a:r>
            <a:r>
              <a:rPr lang="en-CA" sz="1100">
                <a:solidFill>
                  <a:srgbClr val="000000"/>
                </a:solidFill>
                <a:latin typeface="Arial"/>
                <a:ea typeface="Arial"/>
                <a:cs typeface="Arial"/>
                <a:sym typeface="Arial"/>
              </a:rPr>
              <a:t>may provide extra signals about future price direction.</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CA" sz="1100">
                <a:solidFill>
                  <a:srgbClr val="000000"/>
                </a:solidFill>
                <a:latin typeface="Arial"/>
                <a:ea typeface="Arial"/>
                <a:cs typeface="Arial"/>
                <a:sym typeface="Arial"/>
              </a:rPr>
              <a:t>In this study, the aim is to test how well short-term crypto price direction can be predicted in a realistic out-of-sample setting using a walk-forward evaluation. A price-based baseline model is compared with extended models that add news and social-media sentiment/attention signals, and the added value of these signals is evaluated in a systematic way.</a:t>
            </a:r>
            <a:endParaRPr sz="1100">
              <a:solidFill>
                <a:srgbClr val="000000"/>
              </a:solidFill>
              <a:latin typeface="Arial"/>
              <a:ea typeface="Arial"/>
              <a:cs typeface="Arial"/>
              <a:sym typeface="Arial"/>
            </a:endParaRPr>
          </a:p>
        </p:txBody>
      </p:sp>
      <p:pic>
        <p:nvPicPr>
          <p:cNvPr id="95" name="Google Shape;95;p14"/>
          <p:cNvPicPr preferRelativeResize="0"/>
          <p:nvPr/>
        </p:nvPicPr>
        <p:blipFill>
          <a:blip r:embed="rId3">
            <a:alphaModFix/>
          </a:blip>
          <a:stretch>
            <a:fillRect/>
          </a:stretch>
        </p:blipFill>
        <p:spPr>
          <a:xfrm>
            <a:off x="5569525" y="1570450"/>
            <a:ext cx="2926125" cy="2926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503100" y="6651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latin typeface="Arial"/>
                <a:ea typeface="Arial"/>
                <a:cs typeface="Arial"/>
                <a:sym typeface="Arial"/>
              </a:rPr>
              <a:t>Literature</a:t>
            </a:r>
            <a:r>
              <a:rPr lang="en-CA">
                <a:latin typeface="Arial"/>
                <a:ea typeface="Arial"/>
                <a:cs typeface="Arial"/>
                <a:sym typeface="Arial"/>
              </a:rPr>
              <a:t> Review and Our Work</a:t>
            </a:r>
            <a:endParaRPr>
              <a:latin typeface="Arial"/>
              <a:ea typeface="Arial"/>
              <a:cs typeface="Arial"/>
              <a:sym typeface="Arial"/>
            </a:endParaRPr>
          </a:p>
        </p:txBody>
      </p:sp>
      <p:sp>
        <p:nvSpPr>
          <p:cNvPr id="101" name="Google Shape;101;p15"/>
          <p:cNvSpPr txBox="1"/>
          <p:nvPr>
            <p:ph idx="1" type="body"/>
          </p:nvPr>
        </p:nvSpPr>
        <p:spPr>
          <a:xfrm>
            <a:off x="113350" y="1369400"/>
            <a:ext cx="4823700" cy="3829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b="1" lang="en-CA" sz="1100">
                <a:solidFill>
                  <a:srgbClr val="000000"/>
                </a:solidFill>
                <a:latin typeface="Arial"/>
                <a:ea typeface="Arial"/>
                <a:cs typeface="Arial"/>
                <a:sym typeface="Arial"/>
              </a:rPr>
              <a:t>Literature Review;</a:t>
            </a:r>
            <a:endParaRPr b="1" sz="1100">
              <a:solidFill>
                <a:srgbClr val="000000"/>
              </a:solidFill>
              <a:latin typeface="Arial"/>
              <a:ea typeface="Arial"/>
              <a:cs typeface="Arial"/>
              <a:sym typeface="Arial"/>
            </a:endParaRPr>
          </a:p>
          <a:p>
            <a:pPr indent="-292100" lvl="0" marL="457200" rtl="0" algn="l">
              <a:lnSpc>
                <a:spcPct val="95000"/>
              </a:lnSpc>
              <a:spcBef>
                <a:spcPts val="1200"/>
              </a:spcBef>
              <a:spcAft>
                <a:spcPts val="0"/>
              </a:spcAft>
              <a:buClr>
                <a:srgbClr val="000000"/>
              </a:buClr>
              <a:buSzPts val="1000"/>
              <a:buFont typeface="Arial"/>
              <a:buChar char="●"/>
            </a:pPr>
            <a:r>
              <a:rPr b="1" lang="en-CA" sz="1000">
                <a:solidFill>
                  <a:srgbClr val="000000"/>
                </a:solidFill>
                <a:latin typeface="Arial"/>
                <a:ea typeface="Arial"/>
                <a:cs typeface="Arial"/>
                <a:sym typeface="Arial"/>
              </a:rPr>
              <a:t>Amjad &amp; Shah</a:t>
            </a:r>
            <a:r>
              <a:rPr lang="en-CA" sz="1000">
                <a:solidFill>
                  <a:srgbClr val="000000"/>
                </a:solidFill>
                <a:latin typeface="Arial"/>
                <a:ea typeface="Arial"/>
                <a:cs typeface="Arial"/>
                <a:sym typeface="Arial"/>
              </a:rPr>
              <a:t> used the </a:t>
            </a:r>
            <a:r>
              <a:rPr b="1" lang="en-CA" sz="1000">
                <a:solidFill>
                  <a:srgbClr val="000000"/>
                </a:solidFill>
                <a:latin typeface="Arial"/>
                <a:ea typeface="Arial"/>
                <a:cs typeface="Arial"/>
                <a:sym typeface="Arial"/>
              </a:rPr>
              <a:t>Bitcoin price time series</a:t>
            </a:r>
            <a:r>
              <a:rPr lang="en-CA" sz="1000">
                <a:solidFill>
                  <a:srgbClr val="000000"/>
                </a:solidFill>
                <a:latin typeface="Arial"/>
                <a:ea typeface="Arial"/>
                <a:cs typeface="Arial"/>
                <a:sym typeface="Arial"/>
              </a:rPr>
              <a:t> and framed price direction as a </a:t>
            </a:r>
            <a:r>
              <a:rPr b="1" lang="en-CA" sz="1000">
                <a:solidFill>
                  <a:srgbClr val="000000"/>
                </a:solidFill>
                <a:latin typeface="Arial"/>
                <a:ea typeface="Arial"/>
                <a:cs typeface="Arial"/>
                <a:sym typeface="Arial"/>
              </a:rPr>
              <a:t>3-class classification</a:t>
            </a:r>
            <a:r>
              <a:rPr lang="en-CA" sz="1000">
                <a:solidFill>
                  <a:srgbClr val="000000"/>
                </a:solidFill>
                <a:latin typeface="Arial"/>
                <a:ea typeface="Arial"/>
                <a:cs typeface="Arial"/>
                <a:sym typeface="Arial"/>
              </a:rPr>
              <a:t> problem (</a:t>
            </a:r>
            <a:r>
              <a:rPr b="1" lang="en-CA" sz="1000">
                <a:solidFill>
                  <a:srgbClr val="000000"/>
                </a:solidFill>
                <a:latin typeface="Arial"/>
                <a:ea typeface="Arial"/>
                <a:cs typeface="Arial"/>
                <a:sym typeface="Arial"/>
              </a:rPr>
              <a:t>Up / Down / No-change</a:t>
            </a:r>
            <a:r>
              <a:rPr lang="en-CA" sz="1000">
                <a:solidFill>
                  <a:srgbClr val="000000"/>
                </a:solidFill>
                <a:latin typeface="Arial"/>
                <a:ea typeface="Arial"/>
                <a:cs typeface="Arial"/>
                <a:sym typeface="Arial"/>
              </a:rPr>
              <a:t>). They evaluated their models with </a:t>
            </a:r>
            <a:r>
              <a:rPr b="1" lang="en-CA" sz="1000">
                <a:solidFill>
                  <a:srgbClr val="000000"/>
                </a:solidFill>
                <a:latin typeface="Arial"/>
                <a:ea typeface="Arial"/>
                <a:cs typeface="Arial"/>
                <a:sym typeface="Arial"/>
              </a:rPr>
              <a:t>sequential tests that preserve time order</a:t>
            </a:r>
            <a:r>
              <a:rPr lang="en-CA" sz="1000">
                <a:solidFill>
                  <a:srgbClr val="000000"/>
                </a:solidFill>
                <a:latin typeface="Arial"/>
                <a:ea typeface="Arial"/>
                <a:cs typeface="Arial"/>
                <a:sym typeface="Arial"/>
              </a:rPr>
              <a:t> and reported </a:t>
            </a:r>
            <a:r>
              <a:rPr b="1" lang="en-CA" sz="1000">
                <a:solidFill>
                  <a:srgbClr val="000000"/>
                </a:solidFill>
                <a:latin typeface="Arial"/>
                <a:ea typeface="Arial"/>
                <a:cs typeface="Arial"/>
                <a:sym typeface="Arial"/>
              </a:rPr>
              <a:t>about 60% to 70%+ accuracy</a:t>
            </a:r>
            <a:r>
              <a:rPr lang="en-CA" sz="1000">
                <a:solidFill>
                  <a:srgbClr val="000000"/>
                </a:solidFill>
                <a:latin typeface="Arial"/>
                <a:ea typeface="Arial"/>
                <a:cs typeface="Arial"/>
                <a:sym typeface="Arial"/>
              </a:rPr>
              <a:t>.</a:t>
            </a:r>
            <a:br>
              <a:rPr lang="en-CA"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lnSpc>
                <a:spcPct val="95000"/>
              </a:lnSpc>
              <a:spcBef>
                <a:spcPts val="0"/>
              </a:spcBef>
              <a:spcAft>
                <a:spcPts val="0"/>
              </a:spcAft>
              <a:buClr>
                <a:srgbClr val="000000"/>
              </a:buClr>
              <a:buSzPts val="1000"/>
              <a:buFont typeface="Arial"/>
              <a:buChar char="●"/>
            </a:pPr>
            <a:r>
              <a:rPr b="1" lang="en-CA" sz="1000">
                <a:solidFill>
                  <a:srgbClr val="000000"/>
                </a:solidFill>
                <a:latin typeface="Arial"/>
                <a:ea typeface="Arial"/>
                <a:cs typeface="Arial"/>
                <a:sym typeface="Arial"/>
              </a:rPr>
              <a:t>McNally et al.</a:t>
            </a:r>
            <a:r>
              <a:rPr lang="en-CA" sz="1000">
                <a:solidFill>
                  <a:srgbClr val="000000"/>
                </a:solidFill>
                <a:latin typeface="Arial"/>
                <a:ea typeface="Arial"/>
                <a:cs typeface="Arial"/>
                <a:sym typeface="Arial"/>
              </a:rPr>
              <a:t> predicted </a:t>
            </a:r>
            <a:r>
              <a:rPr b="1" lang="en-CA" sz="1000">
                <a:solidFill>
                  <a:srgbClr val="000000"/>
                </a:solidFill>
                <a:latin typeface="Arial"/>
                <a:ea typeface="Arial"/>
                <a:cs typeface="Arial"/>
                <a:sym typeface="Arial"/>
              </a:rPr>
              <a:t>BTC/USD daily price direction</a:t>
            </a:r>
            <a:r>
              <a:rPr lang="en-CA" sz="1000">
                <a:solidFill>
                  <a:srgbClr val="000000"/>
                </a:solidFill>
                <a:latin typeface="Arial"/>
                <a:ea typeface="Arial"/>
                <a:cs typeface="Arial"/>
                <a:sym typeface="Arial"/>
              </a:rPr>
              <a:t> by using </a:t>
            </a:r>
            <a:r>
              <a:rPr b="1" lang="en-CA" sz="1000">
                <a:solidFill>
                  <a:srgbClr val="000000"/>
                </a:solidFill>
                <a:latin typeface="Arial"/>
                <a:ea typeface="Arial"/>
                <a:cs typeface="Arial"/>
                <a:sym typeface="Arial"/>
              </a:rPr>
              <a:t>ARIMA as a baseline</a:t>
            </a:r>
            <a:r>
              <a:rPr lang="en-CA" sz="1000">
                <a:solidFill>
                  <a:srgbClr val="000000"/>
                </a:solidFill>
                <a:latin typeface="Arial"/>
                <a:ea typeface="Arial"/>
                <a:cs typeface="Arial"/>
                <a:sym typeface="Arial"/>
              </a:rPr>
              <a:t> and comparing it with </a:t>
            </a:r>
            <a:r>
              <a:rPr b="1" lang="en-CA" sz="1000">
                <a:solidFill>
                  <a:srgbClr val="000000"/>
                </a:solidFill>
                <a:latin typeface="Arial"/>
                <a:ea typeface="Arial"/>
                <a:cs typeface="Arial"/>
                <a:sym typeface="Arial"/>
              </a:rPr>
              <a:t>RNN</a:t>
            </a:r>
            <a:r>
              <a:rPr lang="en-CA" sz="1000">
                <a:solidFill>
                  <a:srgbClr val="000000"/>
                </a:solidFill>
                <a:latin typeface="Arial"/>
                <a:ea typeface="Arial"/>
                <a:cs typeface="Arial"/>
                <a:sym typeface="Arial"/>
              </a:rPr>
              <a:t> and </a:t>
            </a:r>
            <a:r>
              <a:rPr b="1" lang="en-CA" sz="1000">
                <a:solidFill>
                  <a:srgbClr val="000000"/>
                </a:solidFill>
                <a:latin typeface="Arial"/>
                <a:ea typeface="Arial"/>
                <a:cs typeface="Arial"/>
                <a:sym typeface="Arial"/>
              </a:rPr>
              <a:t>LSTM</a:t>
            </a:r>
            <a:r>
              <a:rPr lang="en-CA" sz="1000">
                <a:solidFill>
                  <a:srgbClr val="000000"/>
                </a:solidFill>
                <a:latin typeface="Arial"/>
                <a:ea typeface="Arial"/>
                <a:cs typeface="Arial"/>
                <a:sym typeface="Arial"/>
              </a:rPr>
              <a:t> models. They followed a </a:t>
            </a:r>
            <a:r>
              <a:rPr b="1" lang="en-CA" sz="1000">
                <a:solidFill>
                  <a:srgbClr val="000000"/>
                </a:solidFill>
                <a:latin typeface="Arial"/>
                <a:ea typeface="Arial"/>
                <a:cs typeface="Arial"/>
                <a:sym typeface="Arial"/>
              </a:rPr>
              <a:t>time-series split</a:t>
            </a:r>
            <a:r>
              <a:rPr lang="en-CA" sz="1000">
                <a:solidFill>
                  <a:srgbClr val="000000"/>
                </a:solidFill>
                <a:latin typeface="Arial"/>
                <a:ea typeface="Arial"/>
                <a:cs typeface="Arial"/>
                <a:sym typeface="Arial"/>
              </a:rPr>
              <a:t> for </a:t>
            </a:r>
            <a:r>
              <a:rPr b="1" lang="en-CA" sz="1000">
                <a:solidFill>
                  <a:srgbClr val="000000"/>
                </a:solidFill>
                <a:latin typeface="Arial"/>
                <a:ea typeface="Arial"/>
                <a:cs typeface="Arial"/>
                <a:sym typeface="Arial"/>
              </a:rPr>
              <a:t>train/validation</a:t>
            </a:r>
            <a:r>
              <a:rPr lang="en-CA" sz="1000">
                <a:solidFill>
                  <a:srgbClr val="000000"/>
                </a:solidFill>
                <a:latin typeface="Arial"/>
                <a:ea typeface="Arial"/>
                <a:cs typeface="Arial"/>
                <a:sym typeface="Arial"/>
              </a:rPr>
              <a:t>. Their best result was with </a:t>
            </a:r>
            <a:r>
              <a:rPr b="1" lang="en-CA" sz="1000">
                <a:solidFill>
                  <a:srgbClr val="000000"/>
                </a:solidFill>
                <a:latin typeface="Arial"/>
                <a:ea typeface="Arial"/>
                <a:cs typeface="Arial"/>
                <a:sym typeface="Arial"/>
              </a:rPr>
              <a:t>LSTM</a:t>
            </a:r>
            <a:r>
              <a:rPr lang="en-CA" sz="1000">
                <a:solidFill>
                  <a:srgbClr val="000000"/>
                </a:solidFill>
                <a:latin typeface="Arial"/>
                <a:ea typeface="Arial"/>
                <a:cs typeface="Arial"/>
                <a:sym typeface="Arial"/>
              </a:rPr>
              <a:t>, reaching </a:t>
            </a:r>
            <a:r>
              <a:rPr b="1" lang="en-CA" sz="1000">
                <a:solidFill>
                  <a:srgbClr val="000000"/>
                </a:solidFill>
                <a:latin typeface="Arial"/>
                <a:ea typeface="Arial"/>
                <a:cs typeface="Arial"/>
                <a:sym typeface="Arial"/>
              </a:rPr>
              <a:t>52.78% accuracy</a:t>
            </a:r>
            <a:r>
              <a:rPr lang="en-CA" sz="1000">
                <a:solidFill>
                  <a:srgbClr val="000000"/>
                </a:solidFill>
                <a:latin typeface="Arial"/>
                <a:ea typeface="Arial"/>
                <a:cs typeface="Arial"/>
                <a:sym typeface="Arial"/>
              </a:rPr>
              <a:t>.</a:t>
            </a:r>
            <a:br>
              <a:rPr lang="en-CA"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lnSpc>
                <a:spcPct val="95000"/>
              </a:lnSpc>
              <a:spcBef>
                <a:spcPts val="0"/>
              </a:spcBef>
              <a:spcAft>
                <a:spcPts val="0"/>
              </a:spcAft>
              <a:buClr>
                <a:srgbClr val="000000"/>
              </a:buClr>
              <a:buSzPts val="1000"/>
              <a:buFont typeface="Arial"/>
              <a:buChar char="●"/>
            </a:pPr>
            <a:r>
              <a:rPr b="1" lang="en-CA" sz="1000">
                <a:solidFill>
                  <a:srgbClr val="000000"/>
                </a:solidFill>
                <a:latin typeface="Arial"/>
                <a:ea typeface="Arial"/>
                <a:cs typeface="Arial"/>
                <a:sym typeface="Arial"/>
              </a:rPr>
              <a:t>Kim et al.</a:t>
            </a:r>
            <a:r>
              <a:rPr lang="en-CA" sz="1000">
                <a:solidFill>
                  <a:srgbClr val="000000"/>
                </a:solidFill>
                <a:latin typeface="Arial"/>
                <a:ea typeface="Arial"/>
                <a:cs typeface="Arial"/>
                <a:sym typeface="Arial"/>
              </a:rPr>
              <a:t> used </a:t>
            </a:r>
            <a:r>
              <a:rPr b="1" lang="en-CA" sz="1000">
                <a:solidFill>
                  <a:srgbClr val="000000"/>
                </a:solidFill>
                <a:latin typeface="Arial"/>
                <a:ea typeface="Arial"/>
                <a:cs typeface="Arial"/>
                <a:sym typeface="Arial"/>
              </a:rPr>
              <a:t>crypto forum data</a:t>
            </a:r>
            <a:r>
              <a:rPr lang="en-CA" sz="1000">
                <a:solidFill>
                  <a:srgbClr val="000000"/>
                </a:solidFill>
                <a:latin typeface="Arial"/>
                <a:ea typeface="Arial"/>
                <a:cs typeface="Arial"/>
                <a:sym typeface="Arial"/>
              </a:rPr>
              <a:t> (topics, comments, replies) instead of Twitter. They extracted daily </a:t>
            </a:r>
            <a:r>
              <a:rPr b="1" lang="en-CA" sz="1000">
                <a:solidFill>
                  <a:srgbClr val="000000"/>
                </a:solidFill>
                <a:latin typeface="Arial"/>
                <a:ea typeface="Arial"/>
                <a:cs typeface="Arial"/>
                <a:sym typeface="Arial"/>
              </a:rPr>
              <a:t>attention features</a:t>
            </a:r>
            <a:r>
              <a:rPr lang="en-CA" sz="1000">
                <a:solidFill>
                  <a:srgbClr val="000000"/>
                </a:solidFill>
                <a:latin typeface="Arial"/>
                <a:ea typeface="Arial"/>
                <a:cs typeface="Arial"/>
                <a:sym typeface="Arial"/>
              </a:rPr>
              <a:t> (e.g., number of topics, replies, views) and </a:t>
            </a:r>
            <a:r>
              <a:rPr b="1" lang="en-CA" sz="1000">
                <a:solidFill>
                  <a:srgbClr val="000000"/>
                </a:solidFill>
                <a:latin typeface="Arial"/>
                <a:ea typeface="Arial"/>
                <a:cs typeface="Arial"/>
                <a:sym typeface="Arial"/>
              </a:rPr>
              <a:t>sentiment indicators</a:t>
            </a:r>
            <a:r>
              <a:rPr lang="en-CA" sz="1000">
                <a:solidFill>
                  <a:srgbClr val="000000"/>
                </a:solidFill>
                <a:latin typeface="Arial"/>
                <a:ea typeface="Arial"/>
                <a:cs typeface="Arial"/>
                <a:sym typeface="Arial"/>
              </a:rPr>
              <a:t> created with </a:t>
            </a:r>
            <a:r>
              <a:rPr b="1" lang="en-CA" sz="1000">
                <a:solidFill>
                  <a:srgbClr val="000000"/>
                </a:solidFill>
                <a:latin typeface="Arial"/>
                <a:ea typeface="Arial"/>
                <a:cs typeface="Arial"/>
                <a:sym typeface="Arial"/>
              </a:rPr>
              <a:t>VADER</a:t>
            </a:r>
            <a:r>
              <a:rPr lang="en-CA" sz="1000">
                <a:solidFill>
                  <a:srgbClr val="000000"/>
                </a:solidFill>
                <a:latin typeface="Arial"/>
                <a:ea typeface="Arial"/>
                <a:cs typeface="Arial"/>
                <a:sym typeface="Arial"/>
              </a:rPr>
              <a:t> (e.g., counts of positive/negative comments and replies). They applied </a:t>
            </a:r>
            <a:r>
              <a:rPr b="1" lang="en-CA" sz="1000">
                <a:solidFill>
                  <a:srgbClr val="000000"/>
                </a:solidFill>
                <a:latin typeface="Arial"/>
                <a:ea typeface="Arial"/>
                <a:cs typeface="Arial"/>
                <a:sym typeface="Arial"/>
              </a:rPr>
              <a:t>Granger causality</a:t>
            </a:r>
            <a:r>
              <a:rPr lang="en-CA" sz="1000">
                <a:solidFill>
                  <a:srgbClr val="000000"/>
                </a:solidFill>
                <a:latin typeface="Arial"/>
                <a:ea typeface="Arial"/>
                <a:cs typeface="Arial"/>
                <a:sym typeface="Arial"/>
              </a:rPr>
              <a:t> to select the most meaningful </a:t>
            </a:r>
            <a:r>
              <a:rPr b="1" lang="en-CA" sz="1000">
                <a:solidFill>
                  <a:srgbClr val="000000"/>
                </a:solidFill>
                <a:latin typeface="Arial"/>
                <a:ea typeface="Arial"/>
                <a:cs typeface="Arial"/>
                <a:sym typeface="Arial"/>
              </a:rPr>
              <a:t>time lags</a:t>
            </a:r>
            <a:r>
              <a:rPr lang="en-CA" sz="1000">
                <a:solidFill>
                  <a:srgbClr val="000000"/>
                </a:solidFill>
                <a:latin typeface="Arial"/>
                <a:ea typeface="Arial"/>
                <a:cs typeface="Arial"/>
                <a:sym typeface="Arial"/>
              </a:rPr>
              <a:t>, then used a Bayesian classifier called </a:t>
            </a:r>
            <a:r>
              <a:rPr b="1" lang="en-CA" sz="1000">
                <a:solidFill>
                  <a:srgbClr val="000000"/>
                </a:solidFill>
                <a:latin typeface="Arial"/>
                <a:ea typeface="Arial"/>
                <a:cs typeface="Arial"/>
                <a:sym typeface="Arial"/>
              </a:rPr>
              <a:t>AODE (Aggregating One-Dependence Estimators)</a:t>
            </a:r>
            <a:r>
              <a:rPr lang="en-CA" sz="1000">
                <a:solidFill>
                  <a:srgbClr val="000000"/>
                </a:solidFill>
                <a:latin typeface="Arial"/>
                <a:ea typeface="Arial"/>
                <a:cs typeface="Arial"/>
                <a:sym typeface="Arial"/>
              </a:rPr>
              <a:t> to make </a:t>
            </a:r>
            <a:r>
              <a:rPr b="1" lang="en-CA" sz="1000">
                <a:solidFill>
                  <a:srgbClr val="000000"/>
                </a:solidFill>
                <a:latin typeface="Arial"/>
                <a:ea typeface="Arial"/>
                <a:cs typeface="Arial"/>
                <a:sym typeface="Arial"/>
              </a:rPr>
              <a:t>binary predictions</a:t>
            </a:r>
            <a:r>
              <a:rPr lang="en-CA" sz="1000">
                <a:solidFill>
                  <a:srgbClr val="000000"/>
                </a:solidFill>
                <a:latin typeface="Arial"/>
                <a:ea typeface="Arial"/>
                <a:cs typeface="Arial"/>
                <a:sym typeface="Arial"/>
              </a:rPr>
              <a:t> of </a:t>
            </a:r>
            <a:r>
              <a:rPr b="1" lang="en-CA" sz="1000">
                <a:solidFill>
                  <a:srgbClr val="000000"/>
                </a:solidFill>
                <a:latin typeface="Arial"/>
                <a:ea typeface="Arial"/>
                <a:cs typeface="Arial"/>
                <a:sym typeface="Arial"/>
              </a:rPr>
              <a:t>price/transaction volatility</a:t>
            </a:r>
            <a:r>
              <a:rPr lang="en-CA" sz="1000">
                <a:solidFill>
                  <a:srgbClr val="000000"/>
                </a:solidFill>
                <a:latin typeface="Arial"/>
                <a:ea typeface="Arial"/>
                <a:cs typeface="Arial"/>
                <a:sym typeface="Arial"/>
              </a:rPr>
              <a:t>. For Bitcoin, using </a:t>
            </a:r>
            <a:r>
              <a:rPr b="1" lang="en-CA" sz="1000">
                <a:solidFill>
                  <a:srgbClr val="000000"/>
                </a:solidFill>
                <a:latin typeface="Arial"/>
                <a:ea typeface="Arial"/>
                <a:cs typeface="Arial"/>
                <a:sym typeface="Arial"/>
              </a:rPr>
              <a:t>697 days for training</a:t>
            </a:r>
            <a:r>
              <a:rPr lang="en-CA" sz="1000">
                <a:solidFill>
                  <a:srgbClr val="000000"/>
                </a:solidFill>
                <a:latin typeface="Arial"/>
                <a:ea typeface="Arial"/>
                <a:cs typeface="Arial"/>
                <a:sym typeface="Arial"/>
              </a:rPr>
              <a:t> and </a:t>
            </a:r>
            <a:r>
              <a:rPr b="1" lang="en-CA" sz="1000">
                <a:solidFill>
                  <a:srgbClr val="000000"/>
                </a:solidFill>
                <a:latin typeface="Arial"/>
                <a:ea typeface="Arial"/>
                <a:cs typeface="Arial"/>
                <a:sym typeface="Arial"/>
              </a:rPr>
              <a:t>94 days for testing</a:t>
            </a:r>
            <a:r>
              <a:rPr lang="en-CA" sz="1000">
                <a:solidFill>
                  <a:srgbClr val="000000"/>
                </a:solidFill>
                <a:latin typeface="Arial"/>
                <a:ea typeface="Arial"/>
                <a:cs typeface="Arial"/>
                <a:sym typeface="Arial"/>
              </a:rPr>
              <a:t>, they reported their best result for </a:t>
            </a:r>
            <a:r>
              <a:rPr b="1" lang="en-CA" sz="1000">
                <a:solidFill>
                  <a:srgbClr val="000000"/>
                </a:solidFill>
                <a:latin typeface="Arial"/>
                <a:ea typeface="Arial"/>
                <a:cs typeface="Arial"/>
                <a:sym typeface="Arial"/>
              </a:rPr>
              <a:t>price volatility prediction</a:t>
            </a:r>
            <a:r>
              <a:rPr lang="en-CA" sz="1000">
                <a:solidFill>
                  <a:srgbClr val="000000"/>
                </a:solidFill>
                <a:latin typeface="Arial"/>
                <a:ea typeface="Arial"/>
                <a:cs typeface="Arial"/>
                <a:sym typeface="Arial"/>
              </a:rPr>
              <a:t> as </a:t>
            </a:r>
            <a:r>
              <a:rPr b="1" lang="en-CA" sz="1000">
                <a:solidFill>
                  <a:srgbClr val="000000"/>
                </a:solidFill>
                <a:latin typeface="Arial"/>
                <a:ea typeface="Arial"/>
                <a:cs typeface="Arial"/>
                <a:sym typeface="Arial"/>
              </a:rPr>
              <a:t>79.57% accuracy</a:t>
            </a:r>
            <a:r>
              <a:rPr lang="en-CA" sz="1000">
                <a:solidFill>
                  <a:srgbClr val="000000"/>
                </a:solidFill>
                <a:latin typeface="Arial"/>
                <a:ea typeface="Arial"/>
                <a:cs typeface="Arial"/>
                <a:sym typeface="Arial"/>
              </a:rPr>
              <a:t> with a </a:t>
            </a:r>
            <a:r>
              <a:rPr b="1" lang="en-CA" sz="1000">
                <a:solidFill>
                  <a:srgbClr val="000000"/>
                </a:solidFill>
                <a:latin typeface="Arial"/>
                <a:ea typeface="Arial"/>
                <a:cs typeface="Arial"/>
                <a:sym typeface="Arial"/>
              </a:rPr>
              <a:t>6-day lag</a:t>
            </a:r>
            <a:r>
              <a:rPr lang="en-CA" sz="1000">
                <a:solidFill>
                  <a:srgbClr val="000000"/>
                </a:solidFill>
                <a:latin typeface="Arial"/>
                <a:ea typeface="Arial"/>
                <a:cs typeface="Arial"/>
                <a:sym typeface="Arial"/>
              </a:rPr>
              <a:t>.</a:t>
            </a:r>
            <a:endParaRPr sz="1000">
              <a:solidFill>
                <a:srgbClr val="000000"/>
              </a:solidFill>
              <a:latin typeface="Arial"/>
              <a:ea typeface="Arial"/>
              <a:cs typeface="Arial"/>
              <a:sym typeface="Arial"/>
            </a:endParaRPr>
          </a:p>
          <a:p>
            <a:pPr indent="0" lvl="0" marL="0" rtl="0" algn="l">
              <a:lnSpc>
                <a:spcPct val="95000"/>
              </a:lnSpc>
              <a:spcBef>
                <a:spcPts val="1200"/>
              </a:spcBef>
              <a:spcAft>
                <a:spcPts val="1200"/>
              </a:spcAft>
              <a:buSzPts val="770"/>
              <a:buNone/>
            </a:pPr>
            <a:r>
              <a:t/>
            </a:r>
            <a:endParaRPr b="1" sz="1100">
              <a:solidFill>
                <a:srgbClr val="000000"/>
              </a:solidFill>
              <a:latin typeface="Arial"/>
              <a:ea typeface="Arial"/>
              <a:cs typeface="Arial"/>
              <a:sym typeface="Arial"/>
            </a:endParaRPr>
          </a:p>
        </p:txBody>
      </p:sp>
      <p:sp>
        <p:nvSpPr>
          <p:cNvPr id="102" name="Google Shape;102;p15"/>
          <p:cNvSpPr txBox="1"/>
          <p:nvPr>
            <p:ph idx="1" type="body"/>
          </p:nvPr>
        </p:nvSpPr>
        <p:spPr>
          <a:xfrm>
            <a:off x="4937050" y="1369400"/>
            <a:ext cx="4119600" cy="3486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CA" sz="1000">
                <a:solidFill>
                  <a:srgbClr val="000000"/>
                </a:solidFill>
                <a:latin typeface="Arial"/>
                <a:ea typeface="Arial"/>
                <a:cs typeface="Arial"/>
                <a:sym typeface="Arial"/>
              </a:rPr>
              <a:t>Our Work;</a:t>
            </a:r>
            <a:endParaRPr b="1" sz="1000">
              <a:solidFill>
                <a:srgbClr val="000000"/>
              </a:solidFill>
              <a:latin typeface="Arial"/>
              <a:ea typeface="Arial"/>
              <a:cs typeface="Arial"/>
              <a:sym typeface="Arial"/>
            </a:endParaRPr>
          </a:p>
          <a:p>
            <a:pPr indent="0" lvl="0" marL="0" rtl="0" algn="l">
              <a:spcBef>
                <a:spcPts val="1200"/>
              </a:spcBef>
              <a:spcAft>
                <a:spcPts val="0"/>
              </a:spcAft>
              <a:buNone/>
            </a:pPr>
            <a:r>
              <a:rPr lang="en-CA" sz="1000">
                <a:solidFill>
                  <a:srgbClr val="000000"/>
                </a:solidFill>
                <a:latin typeface="Arial"/>
                <a:ea typeface="Arial"/>
                <a:cs typeface="Arial"/>
                <a:sym typeface="Arial"/>
              </a:rPr>
              <a:t>Our goal is to test how well </a:t>
            </a:r>
            <a:r>
              <a:rPr b="1" lang="en-CA" sz="1000">
                <a:solidFill>
                  <a:srgbClr val="000000"/>
                </a:solidFill>
                <a:latin typeface="Arial"/>
                <a:ea typeface="Arial"/>
                <a:cs typeface="Arial"/>
                <a:sym typeface="Arial"/>
              </a:rPr>
              <a:t>short-term crypto price direction</a:t>
            </a:r>
            <a:r>
              <a:rPr lang="en-CA" sz="1000">
                <a:solidFill>
                  <a:srgbClr val="000000"/>
                </a:solidFill>
                <a:latin typeface="Arial"/>
                <a:ea typeface="Arial"/>
                <a:cs typeface="Arial"/>
                <a:sym typeface="Arial"/>
              </a:rPr>
              <a:t> can be predicted by </a:t>
            </a:r>
            <a:r>
              <a:rPr b="1" lang="en-CA" sz="1000">
                <a:solidFill>
                  <a:srgbClr val="000000"/>
                </a:solidFill>
                <a:latin typeface="Arial"/>
                <a:ea typeface="Arial"/>
                <a:cs typeface="Arial"/>
                <a:sym typeface="Arial"/>
              </a:rPr>
              <a:t>systematically comparing different information sources</a:t>
            </a:r>
            <a:r>
              <a:rPr lang="en-CA" sz="1000">
                <a:solidFill>
                  <a:srgbClr val="000000"/>
                </a:solidFill>
                <a:latin typeface="Arial"/>
                <a:ea typeface="Arial"/>
                <a:cs typeface="Arial"/>
                <a:sym typeface="Arial"/>
              </a:rPr>
              <a:t>.</a:t>
            </a:r>
            <a:endParaRPr sz="1000">
              <a:solidFill>
                <a:srgbClr val="000000"/>
              </a:solidFill>
              <a:latin typeface="Arial"/>
              <a:ea typeface="Arial"/>
              <a:cs typeface="Arial"/>
              <a:sym typeface="Arial"/>
            </a:endParaRPr>
          </a:p>
          <a:p>
            <a:pPr indent="0" lvl="0" marL="0" rtl="0" algn="l">
              <a:spcBef>
                <a:spcPts val="1200"/>
              </a:spcBef>
              <a:spcAft>
                <a:spcPts val="0"/>
              </a:spcAft>
              <a:buNone/>
            </a:pPr>
            <a:r>
              <a:rPr lang="en-CA" sz="1000">
                <a:solidFill>
                  <a:srgbClr val="000000"/>
                </a:solidFill>
                <a:latin typeface="Arial"/>
                <a:ea typeface="Arial"/>
                <a:cs typeface="Arial"/>
                <a:sym typeface="Arial"/>
              </a:rPr>
              <a:t>First, we build a </a:t>
            </a:r>
            <a:r>
              <a:rPr b="1" lang="en-CA" sz="1000">
                <a:solidFill>
                  <a:srgbClr val="000000"/>
                </a:solidFill>
                <a:latin typeface="Arial"/>
                <a:ea typeface="Arial"/>
                <a:cs typeface="Arial"/>
                <a:sym typeface="Arial"/>
              </a:rPr>
              <a:t>baseline model</a:t>
            </a:r>
            <a:r>
              <a:rPr lang="en-CA" sz="1000">
                <a:solidFill>
                  <a:srgbClr val="000000"/>
                </a:solidFill>
                <a:latin typeface="Arial"/>
                <a:ea typeface="Arial"/>
                <a:cs typeface="Arial"/>
                <a:sym typeface="Arial"/>
              </a:rPr>
              <a:t> using only </a:t>
            </a:r>
            <a:r>
              <a:rPr b="1" lang="en-CA" sz="1000">
                <a:solidFill>
                  <a:srgbClr val="000000"/>
                </a:solidFill>
                <a:latin typeface="Arial"/>
                <a:ea typeface="Arial"/>
                <a:cs typeface="Arial"/>
                <a:sym typeface="Arial"/>
              </a:rPr>
              <a:t>price-based features</a:t>
            </a:r>
            <a:r>
              <a:rPr lang="en-CA" sz="1000">
                <a:solidFill>
                  <a:srgbClr val="000000"/>
                </a:solidFill>
                <a:latin typeface="Arial"/>
                <a:ea typeface="Arial"/>
                <a:cs typeface="Arial"/>
                <a:sym typeface="Arial"/>
              </a:rPr>
              <a:t>, such as past prices and returns.</a:t>
            </a:r>
            <a:endParaRPr sz="1000">
              <a:solidFill>
                <a:srgbClr val="000000"/>
              </a:solidFill>
              <a:latin typeface="Arial"/>
              <a:ea typeface="Arial"/>
              <a:cs typeface="Arial"/>
              <a:sym typeface="Arial"/>
            </a:endParaRPr>
          </a:p>
          <a:p>
            <a:pPr indent="0" lvl="0" marL="0" rtl="0" algn="l">
              <a:spcBef>
                <a:spcPts val="1200"/>
              </a:spcBef>
              <a:spcAft>
                <a:spcPts val="0"/>
              </a:spcAft>
              <a:buNone/>
            </a:pPr>
            <a:r>
              <a:rPr lang="en-CA" sz="1000">
                <a:solidFill>
                  <a:srgbClr val="000000"/>
                </a:solidFill>
                <a:latin typeface="Arial"/>
                <a:ea typeface="Arial"/>
                <a:cs typeface="Arial"/>
                <a:sym typeface="Arial"/>
              </a:rPr>
              <a:t>Then, we create </a:t>
            </a:r>
            <a:r>
              <a:rPr b="1" lang="en-CA" sz="1000">
                <a:solidFill>
                  <a:srgbClr val="000000"/>
                </a:solidFill>
                <a:latin typeface="Arial"/>
                <a:ea typeface="Arial"/>
                <a:cs typeface="Arial"/>
                <a:sym typeface="Arial"/>
              </a:rPr>
              <a:t>extended models</a:t>
            </a:r>
            <a:r>
              <a:rPr lang="en-CA" sz="1000">
                <a:solidFill>
                  <a:srgbClr val="000000"/>
                </a:solidFill>
                <a:latin typeface="Arial"/>
                <a:ea typeface="Arial"/>
                <a:cs typeface="Arial"/>
                <a:sym typeface="Arial"/>
              </a:rPr>
              <a:t> by adding </a:t>
            </a:r>
            <a:r>
              <a:rPr b="1" lang="en-CA" sz="1000">
                <a:solidFill>
                  <a:srgbClr val="000000"/>
                </a:solidFill>
                <a:latin typeface="Arial"/>
                <a:ea typeface="Arial"/>
                <a:cs typeface="Arial"/>
                <a:sym typeface="Arial"/>
              </a:rPr>
              <a:t>sentiment indicators</a:t>
            </a:r>
            <a:r>
              <a:rPr lang="en-CA" sz="1000">
                <a:solidFill>
                  <a:srgbClr val="000000"/>
                </a:solidFill>
                <a:latin typeface="Arial"/>
                <a:ea typeface="Arial"/>
                <a:cs typeface="Arial"/>
                <a:sym typeface="Arial"/>
              </a:rPr>
              <a:t> and </a:t>
            </a:r>
            <a:r>
              <a:rPr b="1" lang="en-CA" sz="1000">
                <a:solidFill>
                  <a:srgbClr val="000000"/>
                </a:solidFill>
                <a:latin typeface="Arial"/>
                <a:ea typeface="Arial"/>
                <a:cs typeface="Arial"/>
                <a:sym typeface="Arial"/>
              </a:rPr>
              <a:t>attention measures</a:t>
            </a:r>
            <a:r>
              <a:rPr lang="en-CA" sz="1000">
                <a:solidFill>
                  <a:srgbClr val="000000"/>
                </a:solidFill>
                <a:latin typeface="Arial"/>
                <a:ea typeface="Arial"/>
                <a:cs typeface="Arial"/>
                <a:sym typeface="Arial"/>
              </a:rPr>
              <a:t> from </a:t>
            </a:r>
            <a:r>
              <a:rPr b="1" lang="en-CA" sz="1000">
                <a:solidFill>
                  <a:srgbClr val="000000"/>
                </a:solidFill>
                <a:latin typeface="Arial"/>
                <a:ea typeface="Arial"/>
                <a:cs typeface="Arial"/>
                <a:sym typeface="Arial"/>
              </a:rPr>
              <a:t>news articles</a:t>
            </a:r>
            <a:r>
              <a:rPr lang="en-CA" sz="1000">
                <a:solidFill>
                  <a:srgbClr val="000000"/>
                </a:solidFill>
                <a:latin typeface="Arial"/>
                <a:ea typeface="Arial"/>
                <a:cs typeface="Arial"/>
                <a:sym typeface="Arial"/>
              </a:rPr>
              <a:t> and </a:t>
            </a:r>
            <a:r>
              <a:rPr b="1" lang="en-CA" sz="1000">
                <a:solidFill>
                  <a:srgbClr val="000000"/>
                </a:solidFill>
                <a:latin typeface="Arial"/>
                <a:ea typeface="Arial"/>
                <a:cs typeface="Arial"/>
                <a:sym typeface="Arial"/>
              </a:rPr>
              <a:t>Twitter posts</a:t>
            </a:r>
            <a:r>
              <a:rPr lang="en-CA" sz="1000">
                <a:solidFill>
                  <a:srgbClr val="000000"/>
                </a:solidFill>
                <a:latin typeface="Arial"/>
                <a:ea typeface="Arial"/>
                <a:cs typeface="Arial"/>
                <a:sym typeface="Arial"/>
              </a:rPr>
              <a:t>, which may reflect investor behavior and market perception.</a:t>
            </a:r>
            <a:endParaRPr sz="1000">
              <a:solidFill>
                <a:srgbClr val="000000"/>
              </a:solidFill>
              <a:latin typeface="Arial"/>
              <a:ea typeface="Arial"/>
              <a:cs typeface="Arial"/>
              <a:sym typeface="Arial"/>
            </a:endParaRPr>
          </a:p>
          <a:p>
            <a:pPr indent="0" lvl="0" marL="0" rtl="0" algn="l">
              <a:spcBef>
                <a:spcPts val="1200"/>
              </a:spcBef>
              <a:spcAft>
                <a:spcPts val="0"/>
              </a:spcAft>
              <a:buNone/>
            </a:pPr>
            <a:r>
              <a:rPr lang="en-CA" sz="1000">
                <a:solidFill>
                  <a:srgbClr val="000000"/>
                </a:solidFill>
                <a:latin typeface="Arial"/>
                <a:ea typeface="Arial"/>
                <a:cs typeface="Arial"/>
                <a:sym typeface="Arial"/>
              </a:rPr>
              <a:t>In this way, we aim to directly measure:</a:t>
            </a:r>
            <a:endParaRPr sz="1000">
              <a:solidFill>
                <a:srgbClr val="000000"/>
              </a:solidFill>
              <a:latin typeface="Arial"/>
              <a:ea typeface="Arial"/>
              <a:cs typeface="Arial"/>
              <a:sym typeface="Arial"/>
            </a:endParaRPr>
          </a:p>
          <a:p>
            <a:pPr indent="-292100" lvl="0" marL="457200" rtl="0" algn="l">
              <a:spcBef>
                <a:spcPts val="1200"/>
              </a:spcBef>
              <a:spcAft>
                <a:spcPts val="0"/>
              </a:spcAft>
              <a:buClr>
                <a:srgbClr val="000000"/>
              </a:buClr>
              <a:buSzPts val="1000"/>
              <a:buFont typeface="Arial"/>
              <a:buAutoNum type="arabicPeriod"/>
            </a:pPr>
            <a:r>
              <a:rPr lang="en-CA" sz="1000">
                <a:solidFill>
                  <a:srgbClr val="000000"/>
                </a:solidFill>
                <a:latin typeface="Arial"/>
                <a:ea typeface="Arial"/>
                <a:cs typeface="Arial"/>
                <a:sym typeface="Arial"/>
              </a:rPr>
              <a:t>the predictive power of </a:t>
            </a:r>
            <a:r>
              <a:rPr b="1" lang="en-CA" sz="1000">
                <a:solidFill>
                  <a:srgbClr val="000000"/>
                </a:solidFill>
                <a:latin typeface="Arial"/>
                <a:ea typeface="Arial"/>
                <a:cs typeface="Arial"/>
                <a:sym typeface="Arial"/>
              </a:rPr>
              <a:t>price information only</a:t>
            </a:r>
            <a:r>
              <a:rPr lang="en-CA" sz="1000">
                <a:solidFill>
                  <a:srgbClr val="000000"/>
                </a:solidFill>
                <a:latin typeface="Arial"/>
                <a:ea typeface="Arial"/>
                <a:cs typeface="Arial"/>
                <a:sym typeface="Arial"/>
              </a:rPr>
              <a:t>, and</a:t>
            </a:r>
            <a:br>
              <a:rPr lang="en-CA" sz="1000">
                <a:solidFill>
                  <a:srgbClr val="000000"/>
                </a:solidFill>
                <a:latin typeface="Arial"/>
                <a:ea typeface="Arial"/>
                <a:cs typeface="Arial"/>
                <a:sym typeface="Arial"/>
              </a:rPr>
            </a:br>
            <a:endParaRPr sz="1000">
              <a:solidFill>
                <a:srgbClr val="000000"/>
              </a:solidFill>
              <a:latin typeface="Arial"/>
              <a:ea typeface="Arial"/>
              <a:cs typeface="Arial"/>
              <a:sym typeface="Arial"/>
            </a:endParaRPr>
          </a:p>
          <a:p>
            <a:pPr indent="-292100" lvl="0" marL="457200" rtl="0" algn="l">
              <a:spcBef>
                <a:spcPts val="0"/>
              </a:spcBef>
              <a:spcAft>
                <a:spcPts val="0"/>
              </a:spcAft>
              <a:buClr>
                <a:srgbClr val="000000"/>
              </a:buClr>
              <a:buSzPts val="1000"/>
              <a:buFont typeface="Arial"/>
              <a:buAutoNum type="arabicPeriod"/>
            </a:pPr>
            <a:r>
              <a:rPr lang="en-CA" sz="1000">
                <a:solidFill>
                  <a:srgbClr val="000000"/>
                </a:solidFill>
                <a:latin typeface="Arial"/>
                <a:ea typeface="Arial"/>
                <a:cs typeface="Arial"/>
                <a:sym typeface="Arial"/>
              </a:rPr>
              <a:t>the </a:t>
            </a:r>
            <a:r>
              <a:rPr b="1" lang="en-CA" sz="1000">
                <a:solidFill>
                  <a:srgbClr val="000000"/>
                </a:solidFill>
                <a:latin typeface="Arial"/>
                <a:ea typeface="Arial"/>
                <a:cs typeface="Arial"/>
                <a:sym typeface="Arial"/>
              </a:rPr>
              <a:t>additional contribution</a:t>
            </a:r>
            <a:r>
              <a:rPr lang="en-CA" sz="1000">
                <a:solidFill>
                  <a:srgbClr val="000000"/>
                </a:solidFill>
                <a:latin typeface="Arial"/>
                <a:ea typeface="Arial"/>
                <a:cs typeface="Arial"/>
                <a:sym typeface="Arial"/>
              </a:rPr>
              <a:t> of combining </a:t>
            </a:r>
            <a:r>
              <a:rPr b="1" lang="en-CA" sz="1000">
                <a:solidFill>
                  <a:srgbClr val="000000"/>
                </a:solidFill>
                <a:latin typeface="Arial"/>
                <a:ea typeface="Arial"/>
                <a:cs typeface="Arial"/>
                <a:sym typeface="Arial"/>
              </a:rPr>
              <a:t>price + news sentiment + Twitter sentiment</a:t>
            </a:r>
            <a:r>
              <a:rPr lang="en-CA" sz="1000">
                <a:solidFill>
                  <a:srgbClr val="000000"/>
                </a:solidFill>
                <a:latin typeface="Arial"/>
                <a:ea typeface="Arial"/>
                <a:cs typeface="Arial"/>
                <a:sym typeface="Arial"/>
              </a:rPr>
              <a:t>.</a:t>
            </a:r>
            <a:endParaRPr sz="1000">
              <a:solidFill>
                <a:srgbClr val="000000"/>
              </a:solidFill>
              <a:latin typeface="Arial"/>
              <a:ea typeface="Arial"/>
              <a:cs typeface="Arial"/>
              <a:sym typeface="Arial"/>
            </a:endParaRPr>
          </a:p>
          <a:p>
            <a:pPr indent="0" lvl="0" marL="0" rtl="0" algn="l">
              <a:spcBef>
                <a:spcPts val="1200"/>
              </a:spcBef>
              <a:spcAft>
                <a:spcPts val="0"/>
              </a:spcAft>
              <a:buNone/>
            </a:pPr>
            <a:r>
              <a:t/>
            </a:r>
            <a:endParaRPr b="1" sz="100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t/>
            </a:r>
            <a:endParaRPr b="1" sz="100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rPr lang="en-CA" sz="1000">
                <a:solidFill>
                  <a:srgbClr val="000000"/>
                </a:solidFill>
                <a:latin typeface="Arial"/>
                <a:ea typeface="Arial"/>
                <a:cs typeface="Arial"/>
                <a:sym typeface="Arial"/>
              </a:rPr>
              <a:t>.</a:t>
            </a:r>
            <a:endParaRPr sz="1000">
              <a:solidFill>
                <a:srgbClr val="000000"/>
              </a:solidFill>
              <a:latin typeface="Arial"/>
              <a:ea typeface="Arial"/>
              <a:cs typeface="Arial"/>
              <a:sym typeface="Arial"/>
            </a:endParaRPr>
          </a:p>
          <a:p>
            <a:pPr indent="0" lvl="0" marL="0" rtl="0" algn="l">
              <a:lnSpc>
                <a:spcPct val="95000"/>
              </a:lnSpc>
              <a:spcBef>
                <a:spcPts val="1200"/>
              </a:spcBef>
              <a:spcAft>
                <a:spcPts val="0"/>
              </a:spcAft>
              <a:buSzPts val="770"/>
              <a:buNone/>
            </a:pPr>
            <a:r>
              <a:t/>
            </a:r>
            <a:endParaRPr sz="1000"/>
          </a:p>
          <a:p>
            <a:pPr indent="0" lvl="0" marL="0" rtl="0" algn="l">
              <a:lnSpc>
                <a:spcPct val="95000"/>
              </a:lnSpc>
              <a:spcBef>
                <a:spcPts val="1200"/>
              </a:spcBef>
              <a:spcAft>
                <a:spcPts val="0"/>
              </a:spcAft>
              <a:buSzPts val="770"/>
              <a:buNone/>
            </a:pPr>
            <a:r>
              <a:t/>
            </a:r>
            <a:endParaRPr sz="1000"/>
          </a:p>
          <a:p>
            <a:pPr indent="0" lvl="0" marL="0" rtl="0" algn="l">
              <a:lnSpc>
                <a:spcPct val="95000"/>
              </a:lnSpc>
              <a:spcBef>
                <a:spcPts val="1200"/>
              </a:spcBef>
              <a:spcAft>
                <a:spcPts val="1200"/>
              </a:spcAft>
              <a:buSzPts val="770"/>
              <a:buNone/>
            </a:pPr>
            <a:r>
              <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727650" y="6185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DATA</a:t>
            </a:r>
            <a:endParaRPr/>
          </a:p>
        </p:txBody>
      </p:sp>
      <p:sp>
        <p:nvSpPr>
          <p:cNvPr id="108" name="Google Shape;108;p16"/>
          <p:cNvSpPr txBox="1"/>
          <p:nvPr>
            <p:ph idx="1" type="body"/>
          </p:nvPr>
        </p:nvSpPr>
        <p:spPr>
          <a:xfrm>
            <a:off x="-120125" y="1299800"/>
            <a:ext cx="3733800" cy="1728000"/>
          </a:xfrm>
          <a:prstGeom prst="rect">
            <a:avLst/>
          </a:prstGeom>
        </p:spPr>
        <p:txBody>
          <a:bodyPr anchorCtr="0" anchor="t" bIns="91425" lIns="91425" spcFirstLastPara="1" rIns="91425" wrap="square" tIns="91425">
            <a:normAutofit fontScale="85000" lnSpcReduction="20000"/>
          </a:bodyPr>
          <a:lstStyle/>
          <a:p>
            <a:pPr indent="0" lvl="0" marL="0" rtl="0" algn="l">
              <a:spcBef>
                <a:spcPts val="1400"/>
              </a:spcBef>
              <a:spcAft>
                <a:spcPts val="0"/>
              </a:spcAft>
              <a:buNone/>
            </a:pPr>
            <a:r>
              <a:rPr b="1" lang="en-CA">
                <a:solidFill>
                  <a:srgbClr val="000000"/>
                </a:solidFill>
                <a:latin typeface="Arial"/>
                <a:ea typeface="Arial"/>
                <a:cs typeface="Arial"/>
                <a:sym typeface="Arial"/>
              </a:rPr>
              <a:t>News Dataset (Bitcoin News)</a:t>
            </a:r>
            <a:endParaRPr b="1">
              <a:solidFill>
                <a:srgbClr val="000000"/>
              </a:solidFill>
              <a:latin typeface="Arial"/>
              <a:ea typeface="Arial"/>
              <a:cs typeface="Arial"/>
              <a:sym typeface="Arial"/>
            </a:endParaRPr>
          </a:p>
          <a:p>
            <a:pPr indent="-287973"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Source:</a:t>
            </a:r>
            <a:r>
              <a:rPr lang="en-CA" sz="1100">
                <a:solidFill>
                  <a:srgbClr val="000000"/>
                </a:solidFill>
                <a:latin typeface="Arial"/>
                <a:ea typeface="Arial"/>
                <a:cs typeface="Arial"/>
                <a:sym typeface="Arial"/>
              </a:rPr>
              <a:t> Kaggle — oliviervha, </a:t>
            </a:r>
            <a:r>
              <a:rPr i="1" lang="en-CA" sz="1100">
                <a:solidFill>
                  <a:srgbClr val="000000"/>
                </a:solidFill>
                <a:latin typeface="Arial"/>
                <a:ea typeface="Arial"/>
                <a:cs typeface="Arial"/>
                <a:sym typeface="Arial"/>
              </a:rPr>
              <a:t>“Crypto News”</a:t>
            </a:r>
            <a:endParaRPr i="1"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Time period:</a:t>
            </a:r>
            <a:r>
              <a:rPr lang="en-CA" sz="1100">
                <a:solidFill>
                  <a:srgbClr val="000000"/>
                </a:solidFill>
                <a:latin typeface="Arial"/>
                <a:ea typeface="Arial"/>
                <a:cs typeface="Arial"/>
                <a:sym typeface="Arial"/>
              </a:rPr>
              <a:t> 2021-10-12 to 2023-12-19</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Content:</a:t>
            </a:r>
            <a:r>
              <a:rPr lang="en-CA" sz="1100">
                <a:solidFill>
                  <a:srgbClr val="000000"/>
                </a:solidFill>
                <a:latin typeface="Arial"/>
                <a:ea typeface="Arial"/>
                <a:cs typeface="Arial"/>
                <a:sym typeface="Arial"/>
              </a:rPr>
              <a:t> Crypto news </a:t>
            </a:r>
            <a:r>
              <a:rPr b="1" lang="en-CA" sz="1100">
                <a:solidFill>
                  <a:srgbClr val="000000"/>
                </a:solidFill>
                <a:latin typeface="Arial"/>
                <a:ea typeface="Arial"/>
                <a:cs typeface="Arial"/>
                <a:sym typeface="Arial"/>
              </a:rPr>
              <a:t>headline + article text</a:t>
            </a:r>
            <a:r>
              <a:rPr lang="en-CA" sz="1100">
                <a:solidFill>
                  <a:srgbClr val="000000"/>
                </a:solidFill>
                <a:latin typeface="Arial"/>
                <a:ea typeface="Arial"/>
                <a:cs typeface="Arial"/>
                <a:sym typeface="Arial"/>
              </a:rPr>
              <a:t>, </a:t>
            </a:r>
            <a:r>
              <a:rPr b="1" lang="en-CA" sz="1100">
                <a:solidFill>
                  <a:srgbClr val="000000"/>
                </a:solidFill>
                <a:latin typeface="Arial"/>
                <a:ea typeface="Arial"/>
                <a:cs typeface="Arial"/>
                <a:sym typeface="Arial"/>
              </a:rPr>
              <a:t>source website</a:t>
            </a:r>
            <a:r>
              <a:rPr lang="en-CA" sz="1100">
                <a:solidFill>
                  <a:srgbClr val="000000"/>
                </a:solidFill>
                <a:latin typeface="Arial"/>
                <a:ea typeface="Arial"/>
                <a:cs typeface="Arial"/>
                <a:sym typeface="Arial"/>
              </a:rPr>
              <a:t>, </a:t>
            </a:r>
            <a:r>
              <a:rPr b="1" lang="en-CA" sz="1100">
                <a:solidFill>
                  <a:srgbClr val="000000"/>
                </a:solidFill>
                <a:latin typeface="Arial"/>
                <a:ea typeface="Arial"/>
                <a:cs typeface="Arial"/>
                <a:sym typeface="Arial"/>
              </a:rPr>
              <a:t>topic tag</a:t>
            </a:r>
            <a:r>
              <a:rPr lang="en-CA" sz="1100">
                <a:solidFill>
                  <a:srgbClr val="000000"/>
                </a:solidFill>
                <a:latin typeface="Arial"/>
                <a:ea typeface="Arial"/>
                <a:cs typeface="Arial"/>
                <a:sym typeface="Arial"/>
              </a:rPr>
              <a:t>, etc.</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Preprocessing:</a:t>
            </a:r>
            <a:r>
              <a:rPr lang="en-CA" sz="1100">
                <a:solidFill>
                  <a:srgbClr val="000000"/>
                </a:solidFill>
                <a:latin typeface="Arial"/>
                <a:ea typeface="Arial"/>
                <a:cs typeface="Arial"/>
                <a:sym typeface="Arial"/>
              </a:rPr>
              <a:t> We </a:t>
            </a:r>
            <a:r>
              <a:rPr b="1" lang="en-CA" sz="1100">
                <a:solidFill>
                  <a:srgbClr val="000000"/>
                </a:solidFill>
                <a:latin typeface="Arial"/>
                <a:ea typeface="Arial"/>
                <a:cs typeface="Arial"/>
                <a:sym typeface="Arial"/>
              </a:rPr>
              <a:t>filtered only Bitcoin-related news</a:t>
            </a:r>
            <a:r>
              <a:rPr lang="en-CA" sz="1100">
                <a:solidFill>
                  <a:srgbClr val="000000"/>
                </a:solidFill>
                <a:latin typeface="Arial"/>
                <a:ea typeface="Arial"/>
                <a:cs typeface="Arial"/>
                <a:sym typeface="Arial"/>
              </a:rPr>
              <a:t> and computed </a:t>
            </a:r>
            <a:r>
              <a:rPr b="1" lang="en-CA" sz="1100">
                <a:solidFill>
                  <a:srgbClr val="000000"/>
                </a:solidFill>
                <a:latin typeface="Arial"/>
                <a:ea typeface="Arial"/>
                <a:cs typeface="Arial"/>
                <a:sym typeface="Arial"/>
              </a:rPr>
              <a:t>sentiment scores using VADER</a:t>
            </a:r>
            <a:r>
              <a:rPr lang="en-CA" sz="1100">
                <a:solidFill>
                  <a:srgbClr val="000000"/>
                </a:solidFill>
                <a:latin typeface="Arial"/>
                <a:ea typeface="Arial"/>
                <a:cs typeface="Arial"/>
                <a:sym typeface="Arial"/>
              </a:rPr>
              <a:t>.</a:t>
            </a:r>
            <a:endParaRPr b="1">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09" name="Google Shape;109;p16"/>
          <p:cNvSpPr txBox="1"/>
          <p:nvPr>
            <p:ph idx="1" type="body"/>
          </p:nvPr>
        </p:nvSpPr>
        <p:spPr>
          <a:xfrm>
            <a:off x="0" y="2760775"/>
            <a:ext cx="3655200" cy="1564800"/>
          </a:xfrm>
          <a:prstGeom prst="rect">
            <a:avLst/>
          </a:prstGeom>
        </p:spPr>
        <p:txBody>
          <a:bodyPr anchorCtr="0" anchor="t" bIns="91425" lIns="91425" spcFirstLastPara="1" rIns="91425" wrap="square" tIns="91425">
            <a:normAutofit fontScale="70000" lnSpcReduction="10000"/>
          </a:bodyPr>
          <a:lstStyle/>
          <a:p>
            <a:pPr indent="0" lvl="0" marL="0" rtl="0" algn="l">
              <a:spcBef>
                <a:spcPts val="1400"/>
              </a:spcBef>
              <a:spcAft>
                <a:spcPts val="0"/>
              </a:spcAft>
              <a:buNone/>
            </a:pPr>
            <a:r>
              <a:rPr b="1" lang="en-CA">
                <a:solidFill>
                  <a:srgbClr val="000000"/>
                </a:solidFill>
                <a:latin typeface="Arial"/>
                <a:ea typeface="Arial"/>
                <a:cs typeface="Arial"/>
                <a:sym typeface="Arial"/>
              </a:rPr>
              <a:t>Twitter BTC Comment Dataset (Tweet Sentiment)</a:t>
            </a:r>
            <a:endParaRPr b="1">
              <a:solidFill>
                <a:srgbClr val="000000"/>
              </a:solidFill>
              <a:latin typeface="Arial"/>
              <a:ea typeface="Arial"/>
              <a:cs typeface="Arial"/>
              <a:sym typeface="Arial"/>
            </a:endParaRPr>
          </a:p>
          <a:p>
            <a:pPr indent="-277495"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Source:</a:t>
            </a:r>
            <a:r>
              <a:rPr lang="en-CA" sz="1100">
                <a:solidFill>
                  <a:srgbClr val="000000"/>
                </a:solidFill>
                <a:latin typeface="Arial"/>
                <a:ea typeface="Arial"/>
                <a:cs typeface="Arial"/>
                <a:sym typeface="Arial"/>
              </a:rPr>
              <a:t> Kaggle — Ihor Olkhovatyi, </a:t>
            </a:r>
            <a:r>
              <a:rPr i="1" lang="en-CA" sz="1100">
                <a:solidFill>
                  <a:srgbClr val="000000"/>
                </a:solidFill>
                <a:latin typeface="Arial"/>
                <a:ea typeface="Arial"/>
                <a:cs typeface="Arial"/>
                <a:sym typeface="Arial"/>
              </a:rPr>
              <a:t>“twitter-btc”</a:t>
            </a:r>
            <a:endParaRPr i="1"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Time period:</a:t>
            </a:r>
            <a:r>
              <a:rPr lang="en-CA" sz="1100">
                <a:solidFill>
                  <a:srgbClr val="000000"/>
                </a:solidFill>
                <a:latin typeface="Arial"/>
                <a:ea typeface="Arial"/>
                <a:cs typeface="Arial"/>
                <a:sym typeface="Arial"/>
              </a:rPr>
              <a:t> 2021-02-05 to 2023-01-10</a:t>
            </a:r>
            <a:endParaRPr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Content:</a:t>
            </a:r>
            <a:r>
              <a:rPr lang="en-CA" sz="1100">
                <a:solidFill>
                  <a:srgbClr val="000000"/>
                </a:solidFill>
                <a:latin typeface="Arial"/>
                <a:ea typeface="Arial"/>
                <a:cs typeface="Arial"/>
                <a:sym typeface="Arial"/>
              </a:rPr>
              <a:t> Tweets that include </a:t>
            </a:r>
            <a:r>
              <a:rPr b="1" lang="en-CA" sz="1100">
                <a:solidFill>
                  <a:srgbClr val="000000"/>
                </a:solidFill>
                <a:latin typeface="Arial"/>
                <a:ea typeface="Arial"/>
                <a:cs typeface="Arial"/>
                <a:sym typeface="Arial"/>
              </a:rPr>
              <a:t>“BTC”</a:t>
            </a:r>
            <a:r>
              <a:rPr lang="en-CA" sz="1100">
                <a:solidFill>
                  <a:srgbClr val="000000"/>
                </a:solidFill>
                <a:latin typeface="Arial"/>
                <a:ea typeface="Arial"/>
                <a:cs typeface="Arial"/>
                <a:sym typeface="Arial"/>
              </a:rPr>
              <a:t> or </a:t>
            </a:r>
            <a:r>
              <a:rPr b="1" lang="en-CA" sz="1100">
                <a:solidFill>
                  <a:srgbClr val="000000"/>
                </a:solidFill>
                <a:latin typeface="Arial"/>
                <a:ea typeface="Arial"/>
                <a:cs typeface="Arial"/>
                <a:sym typeface="Arial"/>
              </a:rPr>
              <a:t>“Bitcoin”</a:t>
            </a:r>
            <a:r>
              <a:rPr lang="en-CA" sz="1100">
                <a:solidFill>
                  <a:srgbClr val="000000"/>
                </a:solidFill>
                <a:latin typeface="Arial"/>
                <a:ea typeface="Arial"/>
                <a:cs typeface="Arial"/>
                <a:sym typeface="Arial"/>
              </a:rPr>
              <a:t> (tweet text, date, user-related fields, etc.).</a:t>
            </a:r>
            <a:endParaRPr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Standardization:</a:t>
            </a:r>
            <a:r>
              <a:rPr lang="en-CA" sz="1100">
                <a:solidFill>
                  <a:srgbClr val="000000"/>
                </a:solidFill>
                <a:latin typeface="Arial"/>
                <a:ea typeface="Arial"/>
                <a:cs typeface="Arial"/>
                <a:sym typeface="Arial"/>
              </a:rPr>
              <a:t> To keep the sentiment method consistent with the news dataset, we </a:t>
            </a:r>
            <a:r>
              <a:rPr b="1" lang="en-CA" sz="1100">
                <a:solidFill>
                  <a:srgbClr val="000000"/>
                </a:solidFill>
                <a:latin typeface="Arial"/>
                <a:ea typeface="Arial"/>
                <a:cs typeface="Arial"/>
                <a:sym typeface="Arial"/>
              </a:rPr>
              <a:t>recomputed tweet sentiment using VADER</a:t>
            </a:r>
            <a:r>
              <a:rPr lang="en-CA" sz="1100">
                <a:solidFill>
                  <a:srgbClr val="000000"/>
                </a:solidFill>
                <a:latin typeface="Arial"/>
                <a:ea typeface="Arial"/>
                <a:cs typeface="Arial"/>
                <a:sym typeface="Arial"/>
              </a:rPr>
              <a:t>.</a:t>
            </a:r>
            <a:endParaRPr b="1">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10" name="Google Shape;110;p16"/>
          <p:cNvSpPr txBox="1"/>
          <p:nvPr>
            <p:ph idx="1" type="body"/>
          </p:nvPr>
        </p:nvSpPr>
        <p:spPr>
          <a:xfrm>
            <a:off x="115950" y="3967350"/>
            <a:ext cx="3423300" cy="1241700"/>
          </a:xfrm>
          <a:prstGeom prst="rect">
            <a:avLst/>
          </a:prstGeom>
        </p:spPr>
        <p:txBody>
          <a:bodyPr anchorCtr="0" anchor="t" bIns="91425" lIns="91425" spcFirstLastPara="1" rIns="91425" wrap="square" tIns="91425">
            <a:normAutofit fontScale="70000" lnSpcReduction="20000"/>
          </a:bodyPr>
          <a:lstStyle/>
          <a:p>
            <a:pPr indent="0" lvl="0" marL="0" rtl="0" algn="l">
              <a:spcBef>
                <a:spcPts val="1400"/>
              </a:spcBef>
              <a:spcAft>
                <a:spcPts val="0"/>
              </a:spcAft>
              <a:buNone/>
            </a:pPr>
            <a:r>
              <a:rPr b="1" lang="en-CA" sz="1603">
                <a:solidFill>
                  <a:srgbClr val="000000"/>
                </a:solidFill>
                <a:latin typeface="Arial"/>
                <a:ea typeface="Arial"/>
                <a:cs typeface="Arial"/>
                <a:sym typeface="Arial"/>
              </a:rPr>
              <a:t>BTC Price Dataset (Daily Bitcoin Price)</a:t>
            </a:r>
            <a:endParaRPr b="1" sz="1603">
              <a:solidFill>
                <a:srgbClr val="000000"/>
              </a:solidFill>
              <a:latin typeface="Arial"/>
              <a:ea typeface="Arial"/>
              <a:cs typeface="Arial"/>
              <a:sym typeface="Arial"/>
            </a:endParaRPr>
          </a:p>
          <a:p>
            <a:pPr indent="-290957" lvl="0" marL="457200" rtl="0" algn="l">
              <a:spcBef>
                <a:spcPts val="1200"/>
              </a:spcBef>
              <a:spcAft>
                <a:spcPts val="0"/>
              </a:spcAft>
              <a:buClr>
                <a:srgbClr val="000000"/>
              </a:buClr>
              <a:buSzPct val="100000"/>
              <a:buFont typeface="Arial"/>
              <a:buChar char="●"/>
            </a:pPr>
            <a:r>
              <a:rPr b="1" lang="en-CA" sz="1403">
                <a:solidFill>
                  <a:srgbClr val="000000"/>
                </a:solidFill>
                <a:latin typeface="Arial"/>
                <a:ea typeface="Arial"/>
                <a:cs typeface="Arial"/>
                <a:sym typeface="Arial"/>
              </a:rPr>
              <a:t>Source:</a:t>
            </a:r>
            <a:r>
              <a:rPr lang="en-CA" sz="1403">
                <a:solidFill>
                  <a:srgbClr val="000000"/>
                </a:solidFill>
                <a:latin typeface="Arial"/>
                <a:ea typeface="Arial"/>
                <a:cs typeface="Arial"/>
                <a:sym typeface="Arial"/>
              </a:rPr>
              <a:t> Kaggle — gamzegedik044, </a:t>
            </a:r>
            <a:r>
              <a:rPr i="1" lang="en-CA" sz="1403">
                <a:solidFill>
                  <a:srgbClr val="000000"/>
                </a:solidFill>
                <a:latin typeface="Arial"/>
                <a:ea typeface="Arial"/>
                <a:cs typeface="Arial"/>
                <a:sym typeface="Arial"/>
              </a:rPr>
              <a:t>“Bitcoin Daily Price (2015–2025)”</a:t>
            </a:r>
            <a:endParaRPr i="1" sz="1403">
              <a:solidFill>
                <a:srgbClr val="000000"/>
              </a:solidFill>
              <a:latin typeface="Arial"/>
              <a:ea typeface="Arial"/>
              <a:cs typeface="Arial"/>
              <a:sym typeface="Arial"/>
            </a:endParaRPr>
          </a:p>
          <a:p>
            <a:pPr indent="-290957" lvl="0" marL="457200" rtl="0" algn="l">
              <a:spcBef>
                <a:spcPts val="0"/>
              </a:spcBef>
              <a:spcAft>
                <a:spcPts val="0"/>
              </a:spcAft>
              <a:buClr>
                <a:srgbClr val="000000"/>
              </a:buClr>
              <a:buSzPct val="100000"/>
              <a:buFont typeface="Arial"/>
              <a:buChar char="●"/>
            </a:pPr>
            <a:r>
              <a:rPr b="1" lang="en-CA" sz="1403">
                <a:solidFill>
                  <a:srgbClr val="000000"/>
                </a:solidFill>
                <a:latin typeface="Arial"/>
                <a:ea typeface="Arial"/>
                <a:cs typeface="Arial"/>
                <a:sym typeface="Arial"/>
              </a:rPr>
              <a:t>Frequency:</a:t>
            </a:r>
            <a:r>
              <a:rPr lang="en-CA" sz="1403">
                <a:solidFill>
                  <a:srgbClr val="000000"/>
                </a:solidFill>
                <a:latin typeface="Arial"/>
                <a:ea typeface="Arial"/>
                <a:cs typeface="Arial"/>
                <a:sym typeface="Arial"/>
              </a:rPr>
              <a:t> </a:t>
            </a:r>
            <a:r>
              <a:rPr b="1" lang="en-CA" sz="1403">
                <a:solidFill>
                  <a:srgbClr val="000000"/>
                </a:solidFill>
                <a:latin typeface="Arial"/>
                <a:ea typeface="Arial"/>
                <a:cs typeface="Arial"/>
                <a:sym typeface="Arial"/>
              </a:rPr>
              <a:t>Daily</a:t>
            </a:r>
            <a:r>
              <a:rPr lang="en-CA" sz="1403">
                <a:solidFill>
                  <a:srgbClr val="000000"/>
                </a:solidFill>
                <a:latin typeface="Arial"/>
                <a:ea typeface="Arial"/>
                <a:cs typeface="Arial"/>
                <a:sym typeface="Arial"/>
              </a:rPr>
              <a:t> price data.</a:t>
            </a:r>
            <a:endParaRPr b="1" sz="1732">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11" name="Google Shape;111;p16"/>
          <p:cNvSpPr txBox="1"/>
          <p:nvPr>
            <p:ph idx="1" type="body"/>
          </p:nvPr>
        </p:nvSpPr>
        <p:spPr>
          <a:xfrm>
            <a:off x="3759150" y="1226625"/>
            <a:ext cx="5152500" cy="3659100"/>
          </a:xfrm>
          <a:prstGeom prst="rect">
            <a:avLst/>
          </a:prstGeom>
        </p:spPr>
        <p:txBody>
          <a:bodyPr anchorCtr="0" anchor="t" bIns="91425" lIns="91425" spcFirstLastPara="1" rIns="91425" wrap="square" tIns="91425">
            <a:normAutofit fontScale="62500" lnSpcReduction="10000"/>
          </a:bodyPr>
          <a:lstStyle/>
          <a:p>
            <a:pPr indent="0" lvl="0" marL="0" rtl="0" algn="l">
              <a:spcBef>
                <a:spcPts val="1400"/>
              </a:spcBef>
              <a:spcAft>
                <a:spcPts val="0"/>
              </a:spcAft>
              <a:buNone/>
            </a:pPr>
            <a:r>
              <a:rPr b="1" lang="en-CA" sz="1729">
                <a:solidFill>
                  <a:srgbClr val="000000"/>
                </a:solidFill>
                <a:latin typeface="Arial"/>
                <a:ea typeface="Arial"/>
                <a:cs typeface="Arial"/>
                <a:sym typeface="Arial"/>
              </a:rPr>
              <a:t>Crypto Fear &amp; Greed Index</a:t>
            </a:r>
            <a:endParaRPr b="1" sz="1729">
              <a:solidFill>
                <a:srgbClr val="000000"/>
              </a:solidFill>
              <a:latin typeface="Arial"/>
              <a:ea typeface="Arial"/>
              <a:cs typeface="Arial"/>
              <a:sym typeface="Arial"/>
            </a:endParaRPr>
          </a:p>
          <a:p>
            <a:pPr indent="-270272" lvl="0" marL="457200" rtl="0" algn="l">
              <a:spcBef>
                <a:spcPts val="1400"/>
              </a:spcBef>
              <a:spcAft>
                <a:spcPts val="0"/>
              </a:spcAft>
              <a:buClr>
                <a:srgbClr val="000000"/>
              </a:buClr>
              <a:buSzPct val="100000"/>
              <a:buFont typeface="Arial"/>
              <a:buChar char="●"/>
            </a:pPr>
            <a:r>
              <a:rPr b="1" lang="en-CA" sz="1050">
                <a:solidFill>
                  <a:srgbClr val="000000"/>
                </a:solidFill>
                <a:latin typeface="Arial"/>
                <a:ea typeface="Arial"/>
                <a:cs typeface="Arial"/>
                <a:sym typeface="Arial"/>
              </a:rPr>
              <a:t>📌 What does the data measure?</a:t>
            </a:r>
            <a:endParaRPr b="1" sz="1050">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lang="en-CA">
                <a:solidFill>
                  <a:srgbClr val="000000"/>
                </a:solidFill>
                <a:latin typeface="Arial"/>
                <a:ea typeface="Arial"/>
                <a:cs typeface="Arial"/>
                <a:sym typeface="Arial"/>
              </a:rPr>
              <a:t>It summarizes </a:t>
            </a:r>
            <a:r>
              <a:rPr b="1" lang="en-CA">
                <a:solidFill>
                  <a:srgbClr val="000000"/>
                </a:solidFill>
                <a:latin typeface="Arial"/>
                <a:ea typeface="Arial"/>
                <a:cs typeface="Arial"/>
                <a:sym typeface="Arial"/>
              </a:rPr>
              <a:t>daily Bitcoin investor sentiment</a:t>
            </a:r>
            <a:r>
              <a:rPr lang="en-CA">
                <a:solidFill>
                  <a:srgbClr val="000000"/>
                </a:solidFill>
                <a:latin typeface="Arial"/>
                <a:ea typeface="Arial"/>
                <a:cs typeface="Arial"/>
                <a:sym typeface="Arial"/>
              </a:rPr>
              <a:t> into a single score.</a:t>
            </a:r>
            <a:endParaRPr>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0 = Extreme Fear</a:t>
            </a:r>
            <a:r>
              <a:rPr lang="en-CA">
                <a:solidFill>
                  <a:srgbClr val="000000"/>
                </a:solidFill>
                <a:latin typeface="Arial"/>
                <a:ea typeface="Arial"/>
                <a:cs typeface="Arial"/>
                <a:sym typeface="Arial"/>
              </a:rPr>
              <a:t>, </a:t>
            </a:r>
            <a:r>
              <a:rPr b="1" lang="en-CA">
                <a:solidFill>
                  <a:srgbClr val="000000"/>
                </a:solidFill>
                <a:latin typeface="Arial"/>
                <a:ea typeface="Arial"/>
                <a:cs typeface="Arial"/>
                <a:sym typeface="Arial"/>
              </a:rPr>
              <a:t>100 = Extreme Greed</a:t>
            </a:r>
            <a:br>
              <a:rPr b="1" lang="en-CA">
                <a:solidFill>
                  <a:srgbClr val="000000"/>
                </a:solidFill>
                <a:latin typeface="Arial"/>
                <a:ea typeface="Arial"/>
                <a:cs typeface="Arial"/>
                <a:sym typeface="Arial"/>
              </a:rPr>
            </a:br>
            <a:endParaRPr b="1">
              <a:solidFill>
                <a:srgbClr val="000000"/>
              </a:solidFill>
              <a:latin typeface="Arial"/>
              <a:ea typeface="Arial"/>
              <a:cs typeface="Arial"/>
              <a:sym typeface="Arial"/>
            </a:endParaRPr>
          </a:p>
          <a:p>
            <a:pPr indent="-270272" lvl="0" marL="457200" rtl="0" algn="l">
              <a:spcBef>
                <a:spcPts val="0"/>
              </a:spcBef>
              <a:spcAft>
                <a:spcPts val="0"/>
              </a:spcAft>
              <a:buClr>
                <a:srgbClr val="000000"/>
              </a:buClr>
              <a:buSzPct val="100000"/>
              <a:buFont typeface="Arial"/>
              <a:buChar char="●"/>
            </a:pPr>
            <a:r>
              <a:rPr b="1" lang="en-CA" sz="1050">
                <a:solidFill>
                  <a:srgbClr val="000000"/>
                </a:solidFill>
                <a:latin typeface="Arial"/>
                <a:ea typeface="Arial"/>
                <a:cs typeface="Arial"/>
                <a:sym typeface="Arial"/>
              </a:rPr>
              <a:t>🧩 Data source and data collection method</a:t>
            </a:r>
            <a:endParaRPr b="1" sz="1050">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lang="en-CA">
                <a:solidFill>
                  <a:srgbClr val="000000"/>
                </a:solidFill>
                <a:latin typeface="Arial"/>
                <a:ea typeface="Arial"/>
                <a:cs typeface="Arial"/>
                <a:sym typeface="Arial"/>
              </a:rPr>
              <a:t>Daily index data was collected from </a:t>
            </a:r>
            <a:r>
              <a:rPr b="1" lang="en-CA">
                <a:solidFill>
                  <a:srgbClr val="000000"/>
                </a:solidFill>
                <a:latin typeface="Arial"/>
                <a:ea typeface="Arial"/>
                <a:cs typeface="Arial"/>
                <a:sym typeface="Arial"/>
              </a:rPr>
              <a:t>Alternative.me’s public API</a:t>
            </a:r>
            <a:r>
              <a:rPr lang="en-CA">
                <a:solidFill>
                  <a:srgbClr val="000000"/>
                </a:solidFill>
                <a:latin typeface="Arial"/>
                <a:ea typeface="Arial"/>
                <a:cs typeface="Arial"/>
                <a:sym typeface="Arial"/>
              </a:rPr>
              <a:t> (</a:t>
            </a:r>
            <a:r>
              <a:rPr lang="en-CA">
                <a:solidFill>
                  <a:srgbClr val="188038"/>
                </a:solidFill>
                <a:latin typeface="Roboto Mono"/>
                <a:ea typeface="Roboto Mono"/>
                <a:cs typeface="Roboto Mono"/>
                <a:sym typeface="Roboto Mono"/>
              </a:rPr>
              <a:t>alternative_fear_greed_api</a:t>
            </a:r>
            <a:r>
              <a:rPr lang="en-CA">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lang="en-CA">
                <a:solidFill>
                  <a:srgbClr val="000000"/>
                </a:solidFill>
                <a:latin typeface="Arial"/>
                <a:ea typeface="Arial"/>
                <a:cs typeface="Arial"/>
                <a:sym typeface="Arial"/>
              </a:rPr>
              <a:t>In Python, a </a:t>
            </a:r>
            <a:r>
              <a:rPr b="1" lang="en-CA">
                <a:solidFill>
                  <a:srgbClr val="000000"/>
                </a:solidFill>
                <a:latin typeface="Arial"/>
                <a:ea typeface="Arial"/>
                <a:cs typeface="Arial"/>
                <a:sym typeface="Arial"/>
              </a:rPr>
              <a:t>GET request</a:t>
            </a:r>
            <a:r>
              <a:rPr lang="en-CA">
                <a:solidFill>
                  <a:srgbClr val="000000"/>
                </a:solidFill>
                <a:latin typeface="Arial"/>
                <a:ea typeface="Arial"/>
                <a:cs typeface="Arial"/>
                <a:sym typeface="Arial"/>
              </a:rPr>
              <a:t> was used to retrieve </a:t>
            </a:r>
            <a:r>
              <a:rPr b="1" lang="en-CA">
                <a:solidFill>
                  <a:srgbClr val="000000"/>
                </a:solidFill>
                <a:latin typeface="Arial"/>
                <a:ea typeface="Arial"/>
                <a:cs typeface="Arial"/>
                <a:sym typeface="Arial"/>
              </a:rPr>
              <a:t>JSON</a:t>
            </a:r>
            <a:r>
              <a:rPr lang="en-CA">
                <a:solidFill>
                  <a:srgbClr val="000000"/>
                </a:solidFill>
                <a:latin typeface="Arial"/>
                <a:ea typeface="Arial"/>
                <a:cs typeface="Arial"/>
                <a:sym typeface="Arial"/>
              </a:rPr>
              <a:t>, and the </a:t>
            </a:r>
            <a:r>
              <a:rPr lang="en-CA">
                <a:solidFill>
                  <a:srgbClr val="188038"/>
                </a:solidFill>
                <a:latin typeface="Roboto Mono"/>
                <a:ea typeface="Roboto Mono"/>
                <a:cs typeface="Roboto Mono"/>
                <a:sym typeface="Roboto Mono"/>
              </a:rPr>
              <a:t>data</a:t>
            </a:r>
            <a:r>
              <a:rPr lang="en-CA">
                <a:solidFill>
                  <a:srgbClr val="000000"/>
                </a:solidFill>
                <a:latin typeface="Arial"/>
                <a:ea typeface="Arial"/>
                <a:cs typeface="Arial"/>
                <a:sym typeface="Arial"/>
              </a:rPr>
              <a:t> field was converted into a </a:t>
            </a:r>
            <a:r>
              <a:rPr b="1" lang="en-CA">
                <a:solidFill>
                  <a:srgbClr val="000000"/>
                </a:solidFill>
                <a:latin typeface="Arial"/>
                <a:ea typeface="Arial"/>
                <a:cs typeface="Arial"/>
                <a:sym typeface="Arial"/>
              </a:rPr>
              <a:t>pandas DataFrame</a:t>
            </a:r>
            <a:r>
              <a:rPr lang="en-CA">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lang="en-CA">
                <a:solidFill>
                  <a:srgbClr val="188038"/>
                </a:solidFill>
                <a:latin typeface="Roboto Mono"/>
                <a:ea typeface="Roboto Mono"/>
                <a:cs typeface="Roboto Mono"/>
                <a:sym typeface="Roboto Mono"/>
              </a:rPr>
              <a:t>timestamp</a:t>
            </a:r>
            <a:r>
              <a:rPr lang="en-CA">
                <a:solidFill>
                  <a:srgbClr val="000000"/>
                </a:solidFill>
                <a:latin typeface="Arial"/>
                <a:ea typeface="Arial"/>
                <a:cs typeface="Arial"/>
                <a:sym typeface="Arial"/>
              </a:rPr>
              <a:t> (Unix) was converted into a calendar date to create the </a:t>
            </a:r>
            <a:r>
              <a:rPr lang="en-CA">
                <a:solidFill>
                  <a:srgbClr val="188038"/>
                </a:solidFill>
                <a:latin typeface="Roboto Mono"/>
                <a:ea typeface="Roboto Mono"/>
                <a:cs typeface="Roboto Mono"/>
                <a:sym typeface="Roboto Mono"/>
              </a:rPr>
              <a:t>date</a:t>
            </a:r>
            <a:r>
              <a:rPr lang="en-CA">
                <a:solidFill>
                  <a:srgbClr val="000000"/>
                </a:solidFill>
                <a:latin typeface="Arial"/>
                <a:ea typeface="Arial"/>
                <a:cs typeface="Arial"/>
                <a:sym typeface="Arial"/>
              </a:rPr>
              <a:t> variable.</a:t>
            </a:r>
            <a:br>
              <a:rPr lang="en-CA">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270272" lvl="0" marL="457200" rtl="0" algn="l">
              <a:spcBef>
                <a:spcPts val="0"/>
              </a:spcBef>
              <a:spcAft>
                <a:spcPts val="0"/>
              </a:spcAft>
              <a:buClr>
                <a:srgbClr val="000000"/>
              </a:buClr>
              <a:buSzPct val="100000"/>
              <a:buFont typeface="Arial"/>
              <a:buChar char="●"/>
            </a:pPr>
            <a:r>
              <a:rPr b="1" lang="en-CA" sz="1050">
                <a:solidFill>
                  <a:srgbClr val="000000"/>
                </a:solidFill>
                <a:latin typeface="Arial"/>
                <a:ea typeface="Arial"/>
                <a:cs typeface="Arial"/>
                <a:sym typeface="Arial"/>
              </a:rPr>
              <a:t>📂 Main columns used</a:t>
            </a:r>
            <a:endParaRPr b="1" sz="1050">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lang="en-CA">
                <a:solidFill>
                  <a:srgbClr val="188038"/>
                </a:solidFill>
                <a:latin typeface="Roboto Mono"/>
                <a:ea typeface="Roboto Mono"/>
                <a:cs typeface="Roboto Mono"/>
                <a:sym typeface="Roboto Mono"/>
              </a:rPr>
              <a:t>date</a:t>
            </a:r>
            <a:r>
              <a:rPr lang="en-CA">
                <a:solidFill>
                  <a:srgbClr val="000000"/>
                </a:solidFill>
                <a:latin typeface="Arial"/>
                <a:ea typeface="Arial"/>
                <a:cs typeface="Arial"/>
                <a:sym typeface="Arial"/>
              </a:rPr>
              <a:t>: day</a:t>
            </a:r>
            <a:endParaRPr>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lang="en-CA">
                <a:solidFill>
                  <a:srgbClr val="188038"/>
                </a:solidFill>
                <a:latin typeface="Roboto Mono"/>
                <a:ea typeface="Roboto Mono"/>
                <a:cs typeface="Roboto Mono"/>
                <a:sym typeface="Roboto Mono"/>
              </a:rPr>
              <a:t>Fear_Greed_value</a:t>
            </a:r>
            <a:r>
              <a:rPr lang="en-CA">
                <a:solidFill>
                  <a:srgbClr val="000000"/>
                </a:solidFill>
                <a:latin typeface="Arial"/>
                <a:ea typeface="Arial"/>
                <a:cs typeface="Arial"/>
                <a:sym typeface="Arial"/>
              </a:rPr>
              <a:t>: score from </a:t>
            </a:r>
            <a:r>
              <a:rPr b="1" lang="en-CA">
                <a:solidFill>
                  <a:srgbClr val="000000"/>
                </a:solidFill>
                <a:latin typeface="Arial"/>
                <a:ea typeface="Arial"/>
                <a:cs typeface="Arial"/>
                <a:sym typeface="Arial"/>
              </a:rPr>
              <a:t>0 to 100</a:t>
            </a:r>
            <a:endParaRPr b="1">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lang="en-CA">
                <a:solidFill>
                  <a:srgbClr val="188038"/>
                </a:solidFill>
                <a:latin typeface="Roboto Mono"/>
                <a:ea typeface="Roboto Mono"/>
                <a:cs typeface="Roboto Mono"/>
                <a:sym typeface="Roboto Mono"/>
              </a:rPr>
              <a:t>value_classification</a:t>
            </a:r>
            <a:r>
              <a:rPr lang="en-CA">
                <a:solidFill>
                  <a:srgbClr val="000000"/>
                </a:solidFill>
                <a:latin typeface="Arial"/>
                <a:ea typeface="Arial"/>
                <a:cs typeface="Arial"/>
                <a:sym typeface="Arial"/>
              </a:rPr>
              <a:t>: label (</a:t>
            </a:r>
            <a:r>
              <a:rPr b="1" lang="en-CA">
                <a:solidFill>
                  <a:srgbClr val="000000"/>
                </a:solidFill>
                <a:latin typeface="Arial"/>
                <a:ea typeface="Arial"/>
                <a:cs typeface="Arial"/>
                <a:sym typeface="Arial"/>
              </a:rPr>
              <a:t>Extreme Fear / Fear / Neutral / Greed / Extreme Greed</a:t>
            </a:r>
            <a:r>
              <a:rPr lang="en-CA">
                <a:solidFill>
                  <a:srgbClr val="000000"/>
                </a:solidFill>
                <a:latin typeface="Arial"/>
                <a:ea typeface="Arial"/>
                <a:cs typeface="Arial"/>
                <a:sym typeface="Arial"/>
              </a:rPr>
              <a:t>)</a:t>
            </a:r>
            <a:br>
              <a:rPr lang="en-CA">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276225" lvl="0" marL="457200" rtl="0" algn="l">
              <a:spcBef>
                <a:spcPts val="0"/>
              </a:spcBef>
              <a:spcAft>
                <a:spcPts val="0"/>
              </a:spcAft>
              <a:buClr>
                <a:srgbClr val="000000"/>
              </a:buClr>
              <a:buSzPct val="100000"/>
              <a:buFont typeface="Arial"/>
              <a:buChar char="●"/>
            </a:pPr>
            <a:r>
              <a:rPr b="1" lang="en-CA" sz="1200">
                <a:solidFill>
                  <a:srgbClr val="000000"/>
                </a:solidFill>
                <a:latin typeface="Arial"/>
                <a:ea typeface="Arial"/>
                <a:cs typeface="Arial"/>
                <a:sym typeface="Arial"/>
              </a:rPr>
              <a:t>⚙️ How is the index computed? (Alternative.me components) (</a:t>
            </a:r>
            <a:r>
              <a:rPr b="1" lang="en-CA" sz="1200">
                <a:solidFill>
                  <a:srgbClr val="188038"/>
                </a:solidFill>
                <a:latin typeface="Roboto Mono"/>
                <a:ea typeface="Roboto Mono"/>
                <a:cs typeface="Roboto Mono"/>
                <a:sym typeface="Roboto Mono"/>
              </a:rPr>
              <a:t>alternative_fear_greed</a:t>
            </a:r>
            <a:r>
              <a:rPr b="1" lang="en-CA" sz="1200">
                <a:solidFill>
                  <a:srgbClr val="000000"/>
                </a:solidFill>
                <a:latin typeface="Arial"/>
                <a:ea typeface="Arial"/>
                <a:cs typeface="Arial"/>
                <a:sym typeface="Arial"/>
              </a:rPr>
              <a:t>)</a:t>
            </a:r>
            <a:endParaRPr b="1" sz="1200">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Volatility (25%)</a:t>
            </a:r>
            <a:r>
              <a:rPr lang="en-CA">
                <a:solidFill>
                  <a:srgbClr val="000000"/>
                </a:solidFill>
                <a:latin typeface="Arial"/>
                <a:ea typeface="Arial"/>
                <a:cs typeface="Arial"/>
                <a:sym typeface="Arial"/>
              </a:rPr>
              <a:t>: higher volatility → fear</a:t>
            </a:r>
            <a:endParaRPr>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Momentum / Volume (25%)</a:t>
            </a:r>
            <a:r>
              <a:rPr lang="en-CA">
                <a:solidFill>
                  <a:srgbClr val="000000"/>
                </a:solidFill>
                <a:latin typeface="Arial"/>
                <a:ea typeface="Arial"/>
                <a:cs typeface="Arial"/>
                <a:sym typeface="Arial"/>
              </a:rPr>
              <a:t>: strong buying volume + rising market → greed</a:t>
            </a:r>
            <a:endParaRPr>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Social Media (15%)</a:t>
            </a:r>
            <a:r>
              <a:rPr lang="en-CA">
                <a:solidFill>
                  <a:srgbClr val="000000"/>
                </a:solidFill>
                <a:latin typeface="Arial"/>
                <a:ea typeface="Arial"/>
                <a:cs typeface="Arial"/>
                <a:sym typeface="Arial"/>
              </a:rPr>
              <a:t>: higher engagement → more attention / greed</a:t>
            </a:r>
            <a:endParaRPr>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Surveys (15%)</a:t>
            </a:r>
            <a:r>
              <a:rPr lang="en-CA">
                <a:solidFill>
                  <a:srgbClr val="000000"/>
                </a:solidFill>
                <a:latin typeface="Arial"/>
                <a:ea typeface="Arial"/>
                <a:cs typeface="Arial"/>
                <a:sym typeface="Arial"/>
              </a:rPr>
              <a:t>: historical investor perception (in some periods)</a:t>
            </a:r>
            <a:endParaRPr>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Market Dominance (10%)</a:t>
            </a:r>
            <a:r>
              <a:rPr lang="en-CA">
                <a:solidFill>
                  <a:srgbClr val="000000"/>
                </a:solidFill>
                <a:latin typeface="Arial"/>
                <a:ea typeface="Arial"/>
                <a:cs typeface="Arial"/>
                <a:sym typeface="Arial"/>
              </a:rPr>
              <a:t>: BTC dominance ↑ → fear; ↓ → higher risk appetite</a:t>
            </a:r>
            <a:endParaRPr>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Search Trends (10%)</a:t>
            </a:r>
            <a:r>
              <a:rPr lang="en-CA">
                <a:solidFill>
                  <a:srgbClr val="000000"/>
                </a:solidFill>
                <a:latin typeface="Arial"/>
                <a:ea typeface="Arial"/>
                <a:cs typeface="Arial"/>
                <a:sym typeface="Arial"/>
              </a:rPr>
              <a:t>: more searches like “crash/manipulation” → fear</a:t>
            </a:r>
            <a:br>
              <a:rPr lang="en-CA">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276225" lvl="0" marL="457200" rtl="0" algn="l">
              <a:spcBef>
                <a:spcPts val="0"/>
              </a:spcBef>
              <a:spcAft>
                <a:spcPts val="0"/>
              </a:spcAft>
              <a:buClr>
                <a:srgbClr val="000000"/>
              </a:buClr>
              <a:buSzPct val="100000"/>
              <a:buFont typeface="Arial"/>
              <a:buChar char="●"/>
            </a:pPr>
            <a:r>
              <a:rPr b="1" lang="en-CA" sz="1200">
                <a:solidFill>
                  <a:srgbClr val="000000"/>
                </a:solidFill>
                <a:latin typeface="Arial"/>
                <a:ea typeface="Arial"/>
                <a:cs typeface="Arial"/>
                <a:sym typeface="Arial"/>
              </a:rPr>
              <a:t>✅ Why is it used?</a:t>
            </a:r>
            <a:endParaRPr sz="1200">
              <a:solidFill>
                <a:srgbClr val="000000"/>
              </a:solidFill>
              <a:latin typeface="Arial"/>
              <a:ea typeface="Arial"/>
              <a:cs typeface="Arial"/>
              <a:sym typeface="Arial"/>
            </a:endParaRPr>
          </a:p>
          <a:p>
            <a:pPr indent="-272256" lvl="1" marL="914400" rtl="0" algn="l">
              <a:spcBef>
                <a:spcPts val="0"/>
              </a:spcBef>
              <a:spcAft>
                <a:spcPts val="0"/>
              </a:spcAft>
              <a:buClr>
                <a:srgbClr val="000000"/>
              </a:buClr>
              <a:buSzPct val="100000"/>
              <a:buFont typeface="Arial"/>
              <a:buChar char="○"/>
            </a:pPr>
            <a:r>
              <a:rPr lang="en-CA">
                <a:solidFill>
                  <a:srgbClr val="000000"/>
                </a:solidFill>
                <a:latin typeface="Arial"/>
                <a:ea typeface="Arial"/>
                <a:cs typeface="Arial"/>
                <a:sym typeface="Arial"/>
              </a:rPr>
              <a:t>It captures market sentiment in a </a:t>
            </a:r>
            <a:r>
              <a:rPr b="1" lang="en-CA">
                <a:solidFill>
                  <a:srgbClr val="000000"/>
                </a:solidFill>
                <a:latin typeface="Arial"/>
                <a:ea typeface="Arial"/>
                <a:cs typeface="Arial"/>
                <a:sym typeface="Arial"/>
              </a:rPr>
              <a:t>single, daily, interpretable</a:t>
            </a:r>
            <a:r>
              <a:rPr lang="en-CA">
                <a:solidFill>
                  <a:srgbClr val="000000"/>
                </a:solidFill>
                <a:latin typeface="Arial"/>
                <a:ea typeface="Arial"/>
                <a:cs typeface="Arial"/>
                <a:sym typeface="Arial"/>
              </a:rPr>
              <a:t> variable, and it </a:t>
            </a:r>
            <a:r>
              <a:rPr b="1" lang="en-CA">
                <a:solidFill>
                  <a:srgbClr val="000000"/>
                </a:solidFill>
                <a:latin typeface="Arial"/>
                <a:ea typeface="Arial"/>
                <a:cs typeface="Arial"/>
                <a:sym typeface="Arial"/>
              </a:rPr>
              <a:t>complements</a:t>
            </a:r>
            <a:r>
              <a:rPr lang="en-CA">
                <a:solidFill>
                  <a:srgbClr val="000000"/>
                </a:solidFill>
                <a:latin typeface="Arial"/>
                <a:ea typeface="Arial"/>
                <a:cs typeface="Arial"/>
                <a:sym typeface="Arial"/>
              </a:rPr>
              <a:t> news sentiment analysis.</a:t>
            </a:r>
            <a:endParaRPr>
              <a:solidFill>
                <a:srgbClr val="000000"/>
              </a:solidFill>
              <a:latin typeface="Arial"/>
              <a:ea typeface="Arial"/>
              <a:cs typeface="Arial"/>
              <a:sym typeface="Arial"/>
            </a:endParaRPr>
          </a:p>
        </p:txBody>
      </p:sp>
      <p:pic>
        <p:nvPicPr>
          <p:cNvPr id="112" name="Google Shape;112;p16"/>
          <p:cNvPicPr preferRelativeResize="0"/>
          <p:nvPr/>
        </p:nvPicPr>
        <p:blipFill>
          <a:blip r:embed="rId3">
            <a:alphaModFix/>
          </a:blip>
          <a:stretch>
            <a:fillRect/>
          </a:stretch>
        </p:blipFill>
        <p:spPr>
          <a:xfrm>
            <a:off x="6935611" y="545625"/>
            <a:ext cx="1568038" cy="608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type="title"/>
          </p:nvPr>
        </p:nvSpPr>
        <p:spPr>
          <a:xfrm>
            <a:off x="645425" y="6465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Sentiment Analysis VADER</a:t>
            </a:r>
            <a:endParaRPr/>
          </a:p>
        </p:txBody>
      </p:sp>
      <p:sp>
        <p:nvSpPr>
          <p:cNvPr id="118" name="Google Shape;118;p17"/>
          <p:cNvSpPr txBox="1"/>
          <p:nvPr>
            <p:ph idx="1" type="body"/>
          </p:nvPr>
        </p:nvSpPr>
        <p:spPr>
          <a:xfrm>
            <a:off x="0" y="1181750"/>
            <a:ext cx="6566100" cy="3956100"/>
          </a:xfrm>
          <a:prstGeom prst="rect">
            <a:avLst/>
          </a:prstGeom>
        </p:spPr>
        <p:txBody>
          <a:bodyPr anchorCtr="0" anchor="t" bIns="91425" lIns="91425" spcFirstLastPara="1" rIns="91425" wrap="square" tIns="91425">
            <a:normAutofit fontScale="77500" lnSpcReduction="20000"/>
          </a:bodyPr>
          <a:lstStyle/>
          <a:p>
            <a:pPr indent="0" lvl="0" marL="0" rtl="0" algn="l">
              <a:spcBef>
                <a:spcPts val="1400"/>
              </a:spcBef>
              <a:spcAft>
                <a:spcPts val="0"/>
              </a:spcAft>
              <a:buNone/>
            </a:pPr>
            <a:r>
              <a:rPr b="1" lang="en-CA">
                <a:solidFill>
                  <a:srgbClr val="000000"/>
                </a:solidFill>
                <a:latin typeface="Arial"/>
                <a:ea typeface="Arial"/>
                <a:cs typeface="Arial"/>
                <a:sym typeface="Arial"/>
              </a:rPr>
              <a:t>What is VADER?</a:t>
            </a:r>
            <a:endParaRPr b="1">
              <a:solidFill>
                <a:srgbClr val="000000"/>
              </a:solidFill>
              <a:latin typeface="Arial"/>
              <a:ea typeface="Arial"/>
              <a:cs typeface="Arial"/>
              <a:sym typeface="Arial"/>
            </a:endParaRPr>
          </a:p>
          <a:p>
            <a:pPr indent="0" lvl="0" marL="0" rtl="0" algn="l">
              <a:spcBef>
                <a:spcPts val="1200"/>
              </a:spcBef>
              <a:spcAft>
                <a:spcPts val="0"/>
              </a:spcAft>
              <a:buNone/>
            </a:pPr>
            <a:r>
              <a:rPr b="1" lang="en-CA" sz="1100">
                <a:solidFill>
                  <a:srgbClr val="000000"/>
                </a:solidFill>
                <a:latin typeface="Arial"/>
                <a:ea typeface="Arial"/>
                <a:cs typeface="Arial"/>
                <a:sym typeface="Arial"/>
              </a:rPr>
              <a:t>VADER</a:t>
            </a:r>
            <a:r>
              <a:rPr lang="en-CA" sz="1100">
                <a:solidFill>
                  <a:srgbClr val="000000"/>
                </a:solidFill>
                <a:latin typeface="Arial"/>
                <a:ea typeface="Arial"/>
                <a:cs typeface="Arial"/>
                <a:sym typeface="Arial"/>
              </a:rPr>
              <a:t> is a </a:t>
            </a:r>
            <a:r>
              <a:rPr b="1" lang="en-CA" sz="1100">
                <a:solidFill>
                  <a:srgbClr val="000000"/>
                </a:solidFill>
                <a:latin typeface="Arial"/>
                <a:ea typeface="Arial"/>
                <a:cs typeface="Arial"/>
                <a:sym typeface="Arial"/>
              </a:rPr>
              <a:t>lexicon- and rule-based sentiment analysis method</a:t>
            </a:r>
            <a:r>
              <a:rPr lang="en-CA" sz="1100">
                <a:solidFill>
                  <a:srgbClr val="000000"/>
                </a:solidFill>
                <a:latin typeface="Arial"/>
                <a:ea typeface="Arial"/>
                <a:cs typeface="Arial"/>
                <a:sym typeface="Arial"/>
              </a:rPr>
              <a:t>, designed especially for </a:t>
            </a:r>
            <a:r>
              <a:rPr b="1" lang="en-CA" sz="1100">
                <a:solidFill>
                  <a:srgbClr val="000000"/>
                </a:solidFill>
                <a:latin typeface="Arial"/>
                <a:ea typeface="Arial"/>
                <a:cs typeface="Arial"/>
                <a:sym typeface="Arial"/>
              </a:rPr>
              <a:t>short texts</a:t>
            </a:r>
            <a:r>
              <a:rPr lang="en-CA" sz="1100">
                <a:solidFill>
                  <a:srgbClr val="000000"/>
                </a:solidFill>
                <a:latin typeface="Arial"/>
                <a:ea typeface="Arial"/>
                <a:cs typeface="Arial"/>
                <a:sym typeface="Arial"/>
              </a:rPr>
              <a:t> (e.g., tweets, headlines).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CA">
                <a:solidFill>
                  <a:srgbClr val="000000"/>
                </a:solidFill>
                <a:latin typeface="Arial"/>
                <a:ea typeface="Arial"/>
                <a:cs typeface="Arial"/>
                <a:sym typeface="Arial"/>
              </a:rPr>
              <a:t>How does it work?</a:t>
            </a:r>
            <a:endParaRPr b="1">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lang="en-CA" sz="1100">
                <a:solidFill>
                  <a:srgbClr val="000000"/>
                </a:solidFill>
                <a:latin typeface="Arial"/>
                <a:ea typeface="Arial"/>
                <a:cs typeface="Arial"/>
                <a:sym typeface="Arial"/>
              </a:rPr>
              <a:t>Each word or phrase is matched to a sentiment dictionary and gets a </a:t>
            </a:r>
            <a:r>
              <a:rPr b="1" lang="en-CA" sz="1100">
                <a:solidFill>
                  <a:srgbClr val="000000"/>
                </a:solidFill>
                <a:latin typeface="Arial"/>
                <a:ea typeface="Arial"/>
                <a:cs typeface="Arial"/>
                <a:sym typeface="Arial"/>
              </a:rPr>
              <a:t>valence score</a:t>
            </a:r>
            <a:r>
              <a:rPr lang="en-CA" sz="1100">
                <a:solidFill>
                  <a:srgbClr val="000000"/>
                </a:solidFill>
                <a:latin typeface="Arial"/>
                <a:ea typeface="Arial"/>
                <a:cs typeface="Arial"/>
                <a:sym typeface="Arial"/>
              </a:rPr>
              <a:t> (sentiment strength).</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Then the score is adjusted using simple </a:t>
            </a:r>
            <a:r>
              <a:rPr b="1" lang="en-CA" sz="1100">
                <a:solidFill>
                  <a:srgbClr val="000000"/>
                </a:solidFill>
                <a:latin typeface="Arial"/>
                <a:ea typeface="Arial"/>
                <a:cs typeface="Arial"/>
                <a:sym typeface="Arial"/>
              </a:rPr>
              <a:t>language rules</a:t>
            </a:r>
            <a:r>
              <a:rPr lang="en-CA" sz="1100">
                <a:solidFill>
                  <a:srgbClr val="000000"/>
                </a:solidFill>
                <a:latin typeface="Arial"/>
                <a:ea typeface="Arial"/>
                <a:cs typeface="Arial"/>
                <a:sym typeface="Arial"/>
              </a:rPr>
              <a:t>, such as:</a:t>
            </a:r>
            <a:endParaRPr sz="1100">
              <a:solidFill>
                <a:srgbClr val="000000"/>
              </a:solidFill>
              <a:latin typeface="Arial"/>
              <a:ea typeface="Arial"/>
              <a:cs typeface="Arial"/>
              <a:sym typeface="Arial"/>
            </a:endParaRPr>
          </a:p>
          <a:p>
            <a:pPr indent="-282734"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Negation:</a:t>
            </a:r>
            <a:r>
              <a:rPr lang="en-CA">
                <a:solidFill>
                  <a:srgbClr val="000000"/>
                </a:solidFill>
                <a:latin typeface="Arial"/>
                <a:ea typeface="Arial"/>
                <a:cs typeface="Arial"/>
                <a:sym typeface="Arial"/>
              </a:rPr>
              <a:t> </a:t>
            </a:r>
            <a:r>
              <a:rPr i="1" lang="en-CA">
                <a:solidFill>
                  <a:srgbClr val="000000"/>
                </a:solidFill>
                <a:latin typeface="Arial"/>
                <a:ea typeface="Arial"/>
                <a:cs typeface="Arial"/>
                <a:sym typeface="Arial"/>
              </a:rPr>
              <a:t>not, never</a:t>
            </a:r>
            <a:endParaRPr i="1">
              <a:solidFill>
                <a:srgbClr val="000000"/>
              </a:solidFill>
              <a:latin typeface="Arial"/>
              <a:ea typeface="Arial"/>
              <a:cs typeface="Arial"/>
              <a:sym typeface="Arial"/>
            </a:endParaRPr>
          </a:p>
          <a:p>
            <a:pPr indent="-282734"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Intensity:</a:t>
            </a:r>
            <a:r>
              <a:rPr lang="en-CA">
                <a:solidFill>
                  <a:srgbClr val="000000"/>
                </a:solidFill>
                <a:latin typeface="Arial"/>
                <a:ea typeface="Arial"/>
                <a:cs typeface="Arial"/>
                <a:sym typeface="Arial"/>
              </a:rPr>
              <a:t> </a:t>
            </a:r>
            <a:r>
              <a:rPr i="1" lang="en-CA">
                <a:solidFill>
                  <a:srgbClr val="000000"/>
                </a:solidFill>
                <a:latin typeface="Arial"/>
                <a:ea typeface="Arial"/>
                <a:cs typeface="Arial"/>
                <a:sym typeface="Arial"/>
              </a:rPr>
              <a:t>very, extremely</a:t>
            </a:r>
            <a:r>
              <a:rPr lang="en-CA">
                <a:solidFill>
                  <a:srgbClr val="000000"/>
                </a:solidFill>
                <a:latin typeface="Arial"/>
                <a:ea typeface="Arial"/>
                <a:cs typeface="Arial"/>
                <a:sym typeface="Arial"/>
              </a:rPr>
              <a:t> vs. </a:t>
            </a:r>
            <a:r>
              <a:rPr i="1" lang="en-CA">
                <a:solidFill>
                  <a:srgbClr val="000000"/>
                </a:solidFill>
                <a:latin typeface="Arial"/>
                <a:ea typeface="Arial"/>
                <a:cs typeface="Arial"/>
                <a:sym typeface="Arial"/>
              </a:rPr>
              <a:t>slightly</a:t>
            </a:r>
            <a:endParaRPr i="1">
              <a:solidFill>
                <a:srgbClr val="000000"/>
              </a:solidFill>
              <a:latin typeface="Arial"/>
              <a:ea typeface="Arial"/>
              <a:cs typeface="Arial"/>
              <a:sym typeface="Arial"/>
            </a:endParaRPr>
          </a:p>
          <a:p>
            <a:pPr indent="-282734"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Emphasis:</a:t>
            </a:r>
            <a:r>
              <a:rPr lang="en-CA">
                <a:solidFill>
                  <a:srgbClr val="000000"/>
                </a:solidFill>
                <a:latin typeface="Arial"/>
                <a:ea typeface="Arial"/>
                <a:cs typeface="Arial"/>
                <a:sym typeface="Arial"/>
              </a:rPr>
              <a:t> </a:t>
            </a:r>
            <a:r>
              <a:rPr b="1" lang="en-CA">
                <a:solidFill>
                  <a:srgbClr val="000000"/>
                </a:solidFill>
                <a:latin typeface="Arial"/>
                <a:ea typeface="Arial"/>
                <a:cs typeface="Arial"/>
                <a:sym typeface="Arial"/>
              </a:rPr>
              <a:t>ALL CAPS</a:t>
            </a:r>
            <a:r>
              <a:rPr lang="en-CA">
                <a:solidFill>
                  <a:srgbClr val="000000"/>
                </a:solidFill>
                <a:latin typeface="Arial"/>
                <a:ea typeface="Arial"/>
                <a:cs typeface="Arial"/>
                <a:sym typeface="Arial"/>
              </a:rPr>
              <a:t>, </a:t>
            </a:r>
            <a:r>
              <a:rPr i="1" lang="en-CA">
                <a:solidFill>
                  <a:srgbClr val="000000"/>
                </a:solidFill>
                <a:latin typeface="Arial"/>
                <a:ea typeface="Arial"/>
                <a:cs typeface="Arial"/>
                <a:sym typeface="Arial"/>
              </a:rPr>
              <a:t>!</a:t>
            </a:r>
            <a:r>
              <a:rPr lang="en-CA">
                <a:solidFill>
                  <a:srgbClr val="000000"/>
                </a:solidFill>
                <a:latin typeface="Arial"/>
                <a:ea typeface="Arial"/>
                <a:cs typeface="Arial"/>
                <a:sym typeface="Arial"/>
              </a:rPr>
              <a:t>, </a:t>
            </a:r>
            <a:r>
              <a:rPr i="1" lang="en-CA">
                <a:solidFill>
                  <a:srgbClr val="000000"/>
                </a:solidFill>
                <a:latin typeface="Arial"/>
                <a:ea typeface="Arial"/>
                <a:cs typeface="Arial"/>
                <a:sym typeface="Arial"/>
              </a:rPr>
              <a:t>?</a:t>
            </a:r>
            <a:endParaRPr i="1">
              <a:solidFill>
                <a:srgbClr val="000000"/>
              </a:solidFill>
              <a:latin typeface="Arial"/>
              <a:ea typeface="Arial"/>
              <a:cs typeface="Arial"/>
              <a:sym typeface="Arial"/>
            </a:endParaRPr>
          </a:p>
          <a:p>
            <a:pPr indent="-282734"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Contrast:</a:t>
            </a:r>
            <a:r>
              <a:rPr lang="en-CA">
                <a:solidFill>
                  <a:srgbClr val="000000"/>
                </a:solidFill>
                <a:latin typeface="Arial"/>
                <a:ea typeface="Arial"/>
                <a:cs typeface="Arial"/>
                <a:sym typeface="Arial"/>
              </a:rPr>
              <a:t> sentiment after </a:t>
            </a:r>
            <a:r>
              <a:rPr b="1" lang="en-CA">
                <a:solidFill>
                  <a:srgbClr val="000000"/>
                </a:solidFill>
                <a:latin typeface="Arial"/>
                <a:ea typeface="Arial"/>
                <a:cs typeface="Arial"/>
                <a:sym typeface="Arial"/>
              </a:rPr>
              <a:t>“but”</a:t>
            </a:r>
            <a:r>
              <a:rPr lang="en-CA">
                <a:solidFill>
                  <a:srgbClr val="000000"/>
                </a:solidFill>
                <a:latin typeface="Arial"/>
                <a:ea typeface="Arial"/>
                <a:cs typeface="Arial"/>
                <a:sym typeface="Arial"/>
              </a:rPr>
              <a:t> is weighted more</a:t>
            </a:r>
            <a:endParaRPr>
              <a:solidFill>
                <a:srgbClr val="000000"/>
              </a:solidFill>
              <a:latin typeface="Arial"/>
              <a:ea typeface="Arial"/>
              <a:cs typeface="Arial"/>
              <a:sym typeface="Arial"/>
            </a:endParaRPr>
          </a:p>
          <a:p>
            <a:pPr indent="0" lvl="0" marL="0" rtl="0" algn="l">
              <a:spcBef>
                <a:spcPts val="1400"/>
              </a:spcBef>
              <a:spcAft>
                <a:spcPts val="0"/>
              </a:spcAft>
              <a:buNone/>
            </a:pPr>
            <a:r>
              <a:rPr b="1" lang="en-CA">
                <a:solidFill>
                  <a:srgbClr val="000000"/>
                </a:solidFill>
                <a:latin typeface="Arial"/>
                <a:ea typeface="Arial"/>
                <a:cs typeface="Arial"/>
                <a:sym typeface="Arial"/>
              </a:rPr>
              <a:t>Outputs (VADER scores)</a:t>
            </a:r>
            <a:endParaRPr b="1">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neg (negative):</a:t>
            </a:r>
            <a:r>
              <a:rPr lang="en-CA" sz="1100">
                <a:solidFill>
                  <a:srgbClr val="000000"/>
                </a:solidFill>
                <a:latin typeface="Arial"/>
                <a:ea typeface="Arial"/>
                <a:cs typeface="Arial"/>
                <a:sym typeface="Arial"/>
              </a:rPr>
              <a:t> proportion of negative sentiment (fear, bad news, negative tone)</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neu (neutral):</a:t>
            </a:r>
            <a:r>
              <a:rPr lang="en-CA" sz="1100">
                <a:solidFill>
                  <a:srgbClr val="000000"/>
                </a:solidFill>
                <a:latin typeface="Arial"/>
                <a:ea typeface="Arial"/>
                <a:cs typeface="Arial"/>
                <a:sym typeface="Arial"/>
              </a:rPr>
              <a:t> proportion of neutral content (informative / no emotion)</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pos (positive):</a:t>
            </a:r>
            <a:r>
              <a:rPr lang="en-CA" sz="1100">
                <a:solidFill>
                  <a:srgbClr val="000000"/>
                </a:solidFill>
                <a:latin typeface="Arial"/>
                <a:ea typeface="Arial"/>
                <a:cs typeface="Arial"/>
                <a:sym typeface="Arial"/>
              </a:rPr>
              <a:t> proportion of positive sentiment (optimism, good news)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CA" sz="1100">
                <a:solidFill>
                  <a:srgbClr val="000000"/>
                </a:solidFill>
                <a:latin typeface="Arial"/>
                <a:ea typeface="Arial"/>
                <a:cs typeface="Arial"/>
                <a:sym typeface="Arial"/>
              </a:rPr>
              <a:t>neg / neu / pos</a:t>
            </a:r>
            <a:r>
              <a:rPr lang="en-CA" sz="1100">
                <a:solidFill>
                  <a:srgbClr val="000000"/>
                </a:solidFill>
                <a:latin typeface="Arial"/>
                <a:ea typeface="Arial"/>
                <a:cs typeface="Arial"/>
                <a:sym typeface="Arial"/>
              </a:rPr>
              <a:t> are each between </a:t>
            </a:r>
            <a:r>
              <a:rPr b="1" lang="en-CA" sz="1100">
                <a:solidFill>
                  <a:srgbClr val="000000"/>
                </a:solidFill>
                <a:latin typeface="Arial"/>
                <a:ea typeface="Arial"/>
                <a:cs typeface="Arial"/>
                <a:sym typeface="Arial"/>
              </a:rPr>
              <a:t>0 and 1</a:t>
            </a:r>
            <a:r>
              <a:rPr lang="en-CA" sz="1100">
                <a:solidFill>
                  <a:srgbClr val="000000"/>
                </a:solidFill>
                <a:latin typeface="Arial"/>
                <a:ea typeface="Arial"/>
                <a:cs typeface="Arial"/>
                <a:sym typeface="Arial"/>
              </a:rPr>
              <a:t>, and for the same text:</a:t>
            </a:r>
            <a:br>
              <a:rPr lang="en-CA" sz="1100">
                <a:solidFill>
                  <a:srgbClr val="000000"/>
                </a:solidFill>
                <a:latin typeface="Arial"/>
                <a:ea typeface="Arial"/>
                <a:cs typeface="Arial"/>
                <a:sym typeface="Arial"/>
              </a:rPr>
            </a:br>
            <a:r>
              <a:rPr b="1" lang="en-CA" sz="1100">
                <a:solidFill>
                  <a:srgbClr val="000000"/>
                </a:solidFill>
                <a:latin typeface="Arial"/>
                <a:ea typeface="Arial"/>
                <a:cs typeface="Arial"/>
                <a:sym typeface="Arial"/>
              </a:rPr>
              <a:t>neg + neu + pos = 1</a:t>
            </a:r>
            <a:endParaRPr b="1" sz="1100">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compound:</a:t>
            </a:r>
            <a:r>
              <a:rPr lang="en-CA" sz="1100">
                <a:solidFill>
                  <a:srgbClr val="000000"/>
                </a:solidFill>
                <a:latin typeface="Arial"/>
                <a:ea typeface="Arial"/>
                <a:cs typeface="Arial"/>
                <a:sym typeface="Arial"/>
              </a:rPr>
              <a:t> a single overall sentiment score between </a:t>
            </a:r>
            <a:r>
              <a:rPr b="1" lang="en-CA" sz="1100">
                <a:solidFill>
                  <a:srgbClr val="000000"/>
                </a:solidFill>
                <a:latin typeface="Arial"/>
                <a:ea typeface="Arial"/>
                <a:cs typeface="Arial"/>
                <a:sym typeface="Arial"/>
              </a:rPr>
              <a:t>-1 and +1</a:t>
            </a:r>
            <a:endParaRPr b="1" sz="1100">
              <a:solidFill>
                <a:srgbClr val="000000"/>
              </a:solidFill>
              <a:latin typeface="Arial"/>
              <a:ea typeface="Arial"/>
              <a:cs typeface="Arial"/>
              <a:sym typeface="Arial"/>
            </a:endParaRPr>
          </a:p>
          <a:p>
            <a:pPr indent="-282734" lvl="1" marL="914400" rtl="0" algn="l">
              <a:spcBef>
                <a:spcPts val="0"/>
              </a:spcBef>
              <a:spcAft>
                <a:spcPts val="0"/>
              </a:spcAft>
              <a:buClr>
                <a:srgbClr val="000000"/>
              </a:buClr>
              <a:buSzPct val="100000"/>
              <a:buFont typeface="Arial"/>
              <a:buChar char="○"/>
            </a:pPr>
            <a:r>
              <a:rPr lang="en-CA">
                <a:solidFill>
                  <a:srgbClr val="000000"/>
                </a:solidFill>
                <a:latin typeface="Arial"/>
                <a:ea typeface="Arial"/>
                <a:cs typeface="Arial"/>
                <a:sym typeface="Arial"/>
              </a:rPr>
              <a:t>close to </a:t>
            </a:r>
            <a:r>
              <a:rPr b="1" lang="en-CA">
                <a:solidFill>
                  <a:srgbClr val="000000"/>
                </a:solidFill>
                <a:latin typeface="Arial"/>
                <a:ea typeface="Arial"/>
                <a:cs typeface="Arial"/>
                <a:sym typeface="Arial"/>
              </a:rPr>
              <a:t>+1</a:t>
            </a:r>
            <a:r>
              <a:rPr lang="en-CA">
                <a:solidFill>
                  <a:srgbClr val="000000"/>
                </a:solidFill>
                <a:latin typeface="Arial"/>
                <a:ea typeface="Arial"/>
                <a:cs typeface="Arial"/>
                <a:sym typeface="Arial"/>
              </a:rPr>
              <a:t> → very positive</a:t>
            </a:r>
            <a:endParaRPr>
              <a:solidFill>
                <a:srgbClr val="000000"/>
              </a:solidFill>
              <a:latin typeface="Arial"/>
              <a:ea typeface="Arial"/>
              <a:cs typeface="Arial"/>
              <a:sym typeface="Arial"/>
            </a:endParaRPr>
          </a:p>
          <a:p>
            <a:pPr indent="-282734" lvl="1" marL="914400" rtl="0" algn="l">
              <a:spcBef>
                <a:spcPts val="0"/>
              </a:spcBef>
              <a:spcAft>
                <a:spcPts val="0"/>
              </a:spcAft>
              <a:buClr>
                <a:srgbClr val="000000"/>
              </a:buClr>
              <a:buSzPct val="100000"/>
              <a:buFont typeface="Arial"/>
              <a:buChar char="○"/>
            </a:pPr>
            <a:r>
              <a:rPr lang="en-CA">
                <a:solidFill>
                  <a:srgbClr val="000000"/>
                </a:solidFill>
                <a:latin typeface="Arial"/>
                <a:ea typeface="Arial"/>
                <a:cs typeface="Arial"/>
                <a:sym typeface="Arial"/>
              </a:rPr>
              <a:t>close to </a:t>
            </a:r>
            <a:r>
              <a:rPr b="1" lang="en-CA">
                <a:solidFill>
                  <a:srgbClr val="000000"/>
                </a:solidFill>
                <a:latin typeface="Arial"/>
                <a:ea typeface="Arial"/>
                <a:cs typeface="Arial"/>
                <a:sym typeface="Arial"/>
              </a:rPr>
              <a:t>-1</a:t>
            </a:r>
            <a:r>
              <a:rPr lang="en-CA">
                <a:solidFill>
                  <a:srgbClr val="000000"/>
                </a:solidFill>
                <a:latin typeface="Arial"/>
                <a:ea typeface="Arial"/>
                <a:cs typeface="Arial"/>
                <a:sym typeface="Arial"/>
              </a:rPr>
              <a:t> → very negative</a:t>
            </a:r>
            <a:endParaRPr>
              <a:solidFill>
                <a:srgbClr val="000000"/>
              </a:solidFill>
              <a:latin typeface="Arial"/>
              <a:ea typeface="Arial"/>
              <a:cs typeface="Arial"/>
              <a:sym typeface="Arial"/>
            </a:endParaRPr>
          </a:p>
          <a:p>
            <a:pPr indent="-282734" lvl="1" marL="914400" rtl="0" algn="l">
              <a:spcBef>
                <a:spcPts val="0"/>
              </a:spcBef>
              <a:spcAft>
                <a:spcPts val="0"/>
              </a:spcAft>
              <a:buClr>
                <a:srgbClr val="000000"/>
              </a:buClr>
              <a:buSzPct val="93617"/>
              <a:buFont typeface="Arial"/>
              <a:buChar char="○"/>
            </a:pPr>
            <a:r>
              <a:rPr lang="en-CA">
                <a:solidFill>
                  <a:srgbClr val="000000"/>
                </a:solidFill>
                <a:latin typeface="Arial"/>
                <a:ea typeface="Arial"/>
                <a:cs typeface="Arial"/>
                <a:sym typeface="Arial"/>
              </a:rPr>
              <a:t>around </a:t>
            </a:r>
            <a:r>
              <a:rPr b="1" lang="en-CA">
                <a:solidFill>
                  <a:srgbClr val="000000"/>
                </a:solidFill>
                <a:latin typeface="Arial"/>
                <a:ea typeface="Arial"/>
                <a:cs typeface="Arial"/>
                <a:sym typeface="Arial"/>
              </a:rPr>
              <a:t>0</a:t>
            </a:r>
            <a:r>
              <a:rPr lang="en-CA">
                <a:solidFill>
                  <a:srgbClr val="000000"/>
                </a:solidFill>
                <a:latin typeface="Arial"/>
                <a:ea typeface="Arial"/>
                <a:cs typeface="Arial"/>
                <a:sym typeface="Arial"/>
              </a:rPr>
              <a:t> → neutral or mixed</a:t>
            </a:r>
            <a:endParaRPr b="1" sz="1175">
              <a:solidFill>
                <a:srgbClr val="000000"/>
              </a:solidFill>
              <a:latin typeface="Arial"/>
              <a:ea typeface="Arial"/>
              <a:cs typeface="Arial"/>
              <a:sym typeface="Arial"/>
            </a:endParaRPr>
          </a:p>
        </p:txBody>
      </p:sp>
      <p:pic>
        <p:nvPicPr>
          <p:cNvPr id="119" name="Google Shape;119;p17"/>
          <p:cNvPicPr preferRelativeResize="0"/>
          <p:nvPr/>
        </p:nvPicPr>
        <p:blipFill>
          <a:blip r:embed="rId3">
            <a:alphaModFix/>
          </a:blip>
          <a:stretch>
            <a:fillRect/>
          </a:stretch>
        </p:blipFill>
        <p:spPr>
          <a:xfrm>
            <a:off x="6429800" y="2143750"/>
            <a:ext cx="2502950" cy="1622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524075" y="6185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Data Processing</a:t>
            </a:r>
            <a:endParaRPr/>
          </a:p>
        </p:txBody>
      </p:sp>
      <p:sp>
        <p:nvSpPr>
          <p:cNvPr id="125" name="Google Shape;125;p18"/>
          <p:cNvSpPr txBox="1"/>
          <p:nvPr>
            <p:ph idx="1" type="body"/>
          </p:nvPr>
        </p:nvSpPr>
        <p:spPr>
          <a:xfrm>
            <a:off x="96000" y="1339825"/>
            <a:ext cx="4814700" cy="2602200"/>
          </a:xfrm>
          <a:prstGeom prst="rect">
            <a:avLst/>
          </a:prstGeom>
        </p:spPr>
        <p:txBody>
          <a:bodyPr anchorCtr="0" anchor="t" bIns="91425" lIns="91425" spcFirstLastPara="1" rIns="91425" wrap="square" tIns="91425">
            <a:normAutofit fontScale="77500" lnSpcReduction="10000"/>
          </a:bodyPr>
          <a:lstStyle/>
          <a:p>
            <a:pPr indent="0" lvl="0" marL="0" rtl="0" algn="l">
              <a:spcBef>
                <a:spcPts val="1400"/>
              </a:spcBef>
              <a:spcAft>
                <a:spcPts val="0"/>
              </a:spcAft>
              <a:buNone/>
            </a:pPr>
            <a:r>
              <a:rPr b="1" lang="en-CA">
                <a:solidFill>
                  <a:srgbClr val="000000"/>
                </a:solidFill>
                <a:latin typeface="Arial"/>
                <a:ea typeface="Arial"/>
                <a:cs typeface="Arial"/>
                <a:sym typeface="Arial"/>
              </a:rPr>
              <a:t>News + Twitter + BTC Price (Daily Merge)</a:t>
            </a:r>
            <a:endParaRPr b="1">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Daily aggregation:</a:t>
            </a:r>
            <a:br>
              <a:rPr b="1" lang="en-CA" sz="1100">
                <a:solidFill>
                  <a:srgbClr val="000000"/>
                </a:solidFill>
                <a:latin typeface="Arial"/>
                <a:ea typeface="Arial"/>
                <a:cs typeface="Arial"/>
                <a:sym typeface="Arial"/>
              </a:rPr>
            </a:br>
            <a:r>
              <a:rPr lang="en-CA" sz="1100">
                <a:solidFill>
                  <a:srgbClr val="000000"/>
                </a:solidFill>
                <a:latin typeface="Arial"/>
                <a:ea typeface="Arial"/>
                <a:cs typeface="Arial"/>
                <a:sym typeface="Arial"/>
              </a:rPr>
              <a:t>News and tweets were grouped by </a:t>
            </a:r>
            <a:r>
              <a:rPr b="1" lang="en-CA" sz="1100">
                <a:solidFill>
                  <a:srgbClr val="000000"/>
                </a:solidFill>
                <a:latin typeface="Arial"/>
                <a:ea typeface="Arial"/>
                <a:cs typeface="Arial"/>
                <a:sym typeface="Arial"/>
              </a:rPr>
              <a:t>date</a:t>
            </a:r>
            <a:r>
              <a:rPr lang="en-CA" sz="1100">
                <a:solidFill>
                  <a:srgbClr val="000000"/>
                </a:solidFill>
                <a:latin typeface="Arial"/>
                <a:ea typeface="Arial"/>
                <a:cs typeface="Arial"/>
                <a:sym typeface="Arial"/>
              </a:rPr>
              <a:t>, and we computed the </a:t>
            </a:r>
            <a:r>
              <a:rPr b="1" lang="en-CA" sz="1100">
                <a:solidFill>
                  <a:srgbClr val="000000"/>
                </a:solidFill>
                <a:latin typeface="Arial"/>
                <a:ea typeface="Arial"/>
                <a:cs typeface="Arial"/>
                <a:sym typeface="Arial"/>
              </a:rPr>
              <a:t>daily average</a:t>
            </a:r>
            <a:r>
              <a:rPr lang="en-CA" sz="1100">
                <a:solidFill>
                  <a:srgbClr val="000000"/>
                </a:solidFill>
                <a:latin typeface="Arial"/>
                <a:ea typeface="Arial"/>
                <a:cs typeface="Arial"/>
                <a:sym typeface="Arial"/>
              </a:rPr>
              <a:t> of VADER sentiment scores.</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Data reduction:</a:t>
            </a:r>
            <a:br>
              <a:rPr b="1" lang="en-CA" sz="1100">
                <a:solidFill>
                  <a:srgbClr val="000000"/>
                </a:solidFill>
                <a:latin typeface="Arial"/>
                <a:ea typeface="Arial"/>
                <a:cs typeface="Arial"/>
                <a:sym typeface="Arial"/>
              </a:rPr>
            </a:br>
            <a:r>
              <a:rPr lang="en-CA" sz="1100">
                <a:solidFill>
                  <a:srgbClr val="000000"/>
                </a:solidFill>
                <a:latin typeface="Arial"/>
                <a:ea typeface="Arial"/>
                <a:cs typeface="Arial"/>
                <a:sym typeface="Arial"/>
              </a:rPr>
              <a:t>We removed the raw text and kept only </a:t>
            </a:r>
            <a:r>
              <a:rPr b="1" lang="en-CA" sz="1100">
                <a:solidFill>
                  <a:srgbClr val="000000"/>
                </a:solidFill>
                <a:latin typeface="Arial"/>
                <a:ea typeface="Arial"/>
                <a:cs typeface="Arial"/>
                <a:sym typeface="Arial"/>
              </a:rPr>
              <a:t>Date + daily sentiment summaries</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Merging process:</a:t>
            </a:r>
            <a:br>
              <a:rPr b="1" lang="en-CA" sz="1100">
                <a:solidFill>
                  <a:srgbClr val="000000"/>
                </a:solidFill>
                <a:latin typeface="Arial"/>
                <a:ea typeface="Arial"/>
                <a:cs typeface="Arial"/>
                <a:sym typeface="Arial"/>
              </a:rPr>
            </a:br>
            <a:r>
              <a:rPr lang="en-CA" sz="1100">
                <a:solidFill>
                  <a:srgbClr val="000000"/>
                </a:solidFill>
                <a:latin typeface="Arial"/>
                <a:ea typeface="Arial"/>
                <a:cs typeface="Arial"/>
                <a:sym typeface="Arial"/>
              </a:rPr>
              <a:t>The daily BTC price dataset was merged with the </a:t>
            </a:r>
            <a:r>
              <a:rPr b="1" lang="en-CA" sz="1100">
                <a:solidFill>
                  <a:srgbClr val="000000"/>
                </a:solidFill>
                <a:latin typeface="Arial"/>
                <a:ea typeface="Arial"/>
                <a:cs typeface="Arial"/>
                <a:sym typeface="Arial"/>
              </a:rPr>
              <a:t>daily news sentiment</a:t>
            </a:r>
            <a:r>
              <a:rPr lang="en-CA" sz="1100">
                <a:solidFill>
                  <a:srgbClr val="000000"/>
                </a:solidFill>
                <a:latin typeface="Arial"/>
                <a:ea typeface="Arial"/>
                <a:cs typeface="Arial"/>
                <a:sym typeface="Arial"/>
              </a:rPr>
              <a:t> and </a:t>
            </a:r>
            <a:r>
              <a:rPr b="1" lang="en-CA" sz="1100">
                <a:solidFill>
                  <a:srgbClr val="000000"/>
                </a:solidFill>
                <a:latin typeface="Arial"/>
                <a:ea typeface="Arial"/>
                <a:cs typeface="Arial"/>
                <a:sym typeface="Arial"/>
              </a:rPr>
              <a:t>daily tweet sentiment</a:t>
            </a:r>
            <a:r>
              <a:rPr lang="en-CA" sz="1100">
                <a:solidFill>
                  <a:srgbClr val="000000"/>
                </a:solidFill>
                <a:latin typeface="Arial"/>
                <a:ea typeface="Arial"/>
                <a:cs typeface="Arial"/>
                <a:sym typeface="Arial"/>
              </a:rPr>
              <a:t> datasets using </a:t>
            </a:r>
            <a:r>
              <a:rPr b="1" lang="en-CA" sz="1100">
                <a:solidFill>
                  <a:srgbClr val="000000"/>
                </a:solidFill>
                <a:latin typeface="Arial"/>
                <a:ea typeface="Arial"/>
                <a:cs typeface="Arial"/>
                <a:sym typeface="Arial"/>
              </a:rPr>
              <a:t>Date</a:t>
            </a:r>
            <a:r>
              <a:rPr lang="en-CA" sz="1100">
                <a:solidFill>
                  <a:srgbClr val="000000"/>
                </a:solidFill>
                <a:latin typeface="Arial"/>
                <a:ea typeface="Arial"/>
                <a:cs typeface="Arial"/>
                <a:sym typeface="Arial"/>
              </a:rPr>
              <a:t> as the key.</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Filtering:</a:t>
            </a:r>
            <a:br>
              <a:rPr b="1" lang="en-CA" sz="1100">
                <a:solidFill>
                  <a:srgbClr val="000000"/>
                </a:solidFill>
                <a:latin typeface="Arial"/>
                <a:ea typeface="Arial"/>
                <a:cs typeface="Arial"/>
                <a:sym typeface="Arial"/>
              </a:rPr>
            </a:br>
            <a:r>
              <a:rPr lang="en-CA" sz="1100">
                <a:solidFill>
                  <a:srgbClr val="000000"/>
                </a:solidFill>
                <a:latin typeface="Arial"/>
                <a:ea typeface="Arial"/>
                <a:cs typeface="Arial"/>
                <a:sym typeface="Arial"/>
              </a:rPr>
              <a:t>Days that were not common across all three sources were removed. We kept only the dates where </a:t>
            </a:r>
            <a:r>
              <a:rPr b="1" lang="en-CA" sz="1100">
                <a:solidFill>
                  <a:srgbClr val="000000"/>
                </a:solidFill>
                <a:latin typeface="Arial"/>
                <a:ea typeface="Arial"/>
                <a:cs typeface="Arial"/>
                <a:sym typeface="Arial"/>
              </a:rPr>
              <a:t>price + news + Twitter</a:t>
            </a:r>
            <a:r>
              <a:rPr lang="en-CA" sz="1100">
                <a:solidFill>
                  <a:srgbClr val="000000"/>
                </a:solidFill>
                <a:latin typeface="Arial"/>
                <a:ea typeface="Arial"/>
                <a:cs typeface="Arial"/>
                <a:sym typeface="Arial"/>
              </a:rPr>
              <a:t> data were all available.</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Final dataset:</a:t>
            </a:r>
            <a:br>
              <a:rPr b="1" lang="en-CA" sz="1100">
                <a:solidFill>
                  <a:srgbClr val="000000"/>
                </a:solidFill>
                <a:latin typeface="Arial"/>
                <a:ea typeface="Arial"/>
                <a:cs typeface="Arial"/>
                <a:sym typeface="Arial"/>
              </a:rPr>
            </a:br>
            <a:r>
              <a:rPr b="1" lang="en-CA" sz="1100">
                <a:solidFill>
                  <a:srgbClr val="000000"/>
                </a:solidFill>
                <a:latin typeface="Arial"/>
                <a:ea typeface="Arial"/>
                <a:cs typeface="Arial"/>
                <a:sym typeface="Arial"/>
              </a:rPr>
              <a:t>167 days</a:t>
            </a:r>
            <a:r>
              <a:rPr lang="en-CA" sz="1100">
                <a:solidFill>
                  <a:srgbClr val="000000"/>
                </a:solidFill>
                <a:latin typeface="Arial"/>
                <a:ea typeface="Arial"/>
                <a:cs typeface="Arial"/>
                <a:sym typeface="Arial"/>
              </a:rPr>
              <a:t> in total, but the timeline is </a:t>
            </a:r>
            <a:r>
              <a:rPr b="1" lang="en-CA" sz="1100">
                <a:solidFill>
                  <a:srgbClr val="000000"/>
                </a:solidFill>
                <a:latin typeface="Arial"/>
                <a:ea typeface="Arial"/>
                <a:cs typeface="Arial"/>
                <a:sym typeface="Arial"/>
              </a:rPr>
              <a:t>not continuous</a:t>
            </a:r>
            <a:r>
              <a:rPr lang="en-CA" sz="1100">
                <a:solidFill>
                  <a:srgbClr val="000000"/>
                </a:solidFill>
                <a:latin typeface="Arial"/>
                <a:ea typeface="Arial"/>
                <a:cs typeface="Arial"/>
                <a:sym typeface="Arial"/>
              </a:rPr>
              <a:t> (there are </a:t>
            </a:r>
            <a:r>
              <a:rPr b="1" lang="en-CA" sz="1100">
                <a:solidFill>
                  <a:srgbClr val="000000"/>
                </a:solidFill>
                <a:latin typeface="Arial"/>
                <a:ea typeface="Arial"/>
                <a:cs typeface="Arial"/>
                <a:sym typeface="Arial"/>
              </a:rPr>
              <a:t>gaps between dates</a:t>
            </a:r>
            <a:r>
              <a:rPr lang="en-CA" sz="1100">
                <a:solidFill>
                  <a:srgbClr val="000000"/>
                </a:solidFill>
                <a:latin typeface="Arial"/>
                <a:ea typeface="Arial"/>
                <a:cs typeface="Arial"/>
                <a:sym typeface="Arial"/>
              </a:rPr>
              <a:t>).</a:t>
            </a:r>
            <a:endParaRPr b="1">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26" name="Google Shape;126;p18"/>
          <p:cNvSpPr txBox="1"/>
          <p:nvPr>
            <p:ph idx="1" type="body"/>
          </p:nvPr>
        </p:nvSpPr>
        <p:spPr>
          <a:xfrm>
            <a:off x="4989900" y="1339825"/>
            <a:ext cx="4154100" cy="2321100"/>
          </a:xfrm>
          <a:prstGeom prst="rect">
            <a:avLst/>
          </a:prstGeom>
        </p:spPr>
        <p:txBody>
          <a:bodyPr anchorCtr="0" anchor="t" bIns="91425" lIns="91425" spcFirstLastPara="1" rIns="91425" wrap="square" tIns="91425">
            <a:normAutofit fontScale="85000" lnSpcReduction="20000"/>
          </a:bodyPr>
          <a:lstStyle/>
          <a:p>
            <a:pPr indent="0" lvl="0" marL="0" rtl="0" algn="l">
              <a:spcBef>
                <a:spcPts val="1400"/>
              </a:spcBef>
              <a:spcAft>
                <a:spcPts val="0"/>
              </a:spcAft>
              <a:buNone/>
            </a:pPr>
            <a:r>
              <a:rPr b="1" lang="en-CA">
                <a:solidFill>
                  <a:srgbClr val="000000"/>
                </a:solidFill>
                <a:latin typeface="Arial"/>
                <a:ea typeface="Arial"/>
                <a:cs typeface="Arial"/>
                <a:sym typeface="Arial"/>
              </a:rPr>
              <a:t>Fear &amp; Greed + News + BTC Price (Daily Merge)</a:t>
            </a:r>
            <a:endParaRPr b="1">
              <a:solidFill>
                <a:srgbClr val="000000"/>
              </a:solidFill>
              <a:latin typeface="Arial"/>
              <a:ea typeface="Arial"/>
              <a:cs typeface="Arial"/>
              <a:sym typeface="Arial"/>
            </a:endParaRPr>
          </a:p>
          <a:p>
            <a:pPr indent="-287973"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Adding Fear &amp; Greed:</a:t>
            </a:r>
            <a:br>
              <a:rPr b="1" lang="en-CA" sz="1100">
                <a:solidFill>
                  <a:srgbClr val="000000"/>
                </a:solidFill>
                <a:latin typeface="Arial"/>
                <a:ea typeface="Arial"/>
                <a:cs typeface="Arial"/>
                <a:sym typeface="Arial"/>
              </a:rPr>
            </a:br>
            <a:r>
              <a:rPr lang="en-CA" sz="1100">
                <a:solidFill>
                  <a:srgbClr val="000000"/>
                </a:solidFill>
                <a:latin typeface="Arial"/>
                <a:ea typeface="Arial"/>
                <a:cs typeface="Arial"/>
                <a:sym typeface="Arial"/>
              </a:rPr>
              <a:t>We included the daily </a:t>
            </a:r>
            <a:r>
              <a:rPr b="1" lang="en-CA" sz="1100">
                <a:solidFill>
                  <a:srgbClr val="000000"/>
                </a:solidFill>
                <a:latin typeface="Arial"/>
                <a:ea typeface="Arial"/>
                <a:cs typeface="Arial"/>
                <a:sym typeface="Arial"/>
              </a:rPr>
              <a:t>Alternative.me Fear &amp; Greed Index</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News processing:</a:t>
            </a:r>
            <a:br>
              <a:rPr b="1" lang="en-CA" sz="1100">
                <a:solidFill>
                  <a:srgbClr val="000000"/>
                </a:solidFill>
                <a:latin typeface="Arial"/>
                <a:ea typeface="Arial"/>
                <a:cs typeface="Arial"/>
                <a:sym typeface="Arial"/>
              </a:rPr>
            </a:br>
            <a:r>
              <a:rPr lang="en-CA" sz="1100">
                <a:solidFill>
                  <a:srgbClr val="000000"/>
                </a:solidFill>
                <a:latin typeface="Arial"/>
                <a:ea typeface="Arial"/>
                <a:cs typeface="Arial"/>
                <a:sym typeface="Arial"/>
              </a:rPr>
              <a:t>News sentiment was aggregated to </a:t>
            </a:r>
            <a:r>
              <a:rPr b="1" lang="en-CA" sz="1100">
                <a:solidFill>
                  <a:srgbClr val="000000"/>
                </a:solidFill>
                <a:latin typeface="Arial"/>
                <a:ea typeface="Arial"/>
                <a:cs typeface="Arial"/>
                <a:sym typeface="Arial"/>
              </a:rPr>
              <a:t>daily averages</a:t>
            </a:r>
            <a:r>
              <a:rPr lang="en-CA" sz="1100">
                <a:solidFill>
                  <a:srgbClr val="000000"/>
                </a:solidFill>
                <a:latin typeface="Arial"/>
                <a:ea typeface="Arial"/>
                <a:cs typeface="Arial"/>
                <a:sym typeface="Arial"/>
              </a:rPr>
              <a:t> by date.</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Merging:</a:t>
            </a:r>
            <a:br>
              <a:rPr b="1" lang="en-CA" sz="1100">
                <a:solidFill>
                  <a:srgbClr val="000000"/>
                </a:solidFill>
                <a:latin typeface="Arial"/>
                <a:ea typeface="Arial"/>
                <a:cs typeface="Arial"/>
                <a:sym typeface="Arial"/>
              </a:rPr>
            </a:br>
            <a:r>
              <a:rPr lang="en-CA" sz="1100">
                <a:solidFill>
                  <a:srgbClr val="000000"/>
                </a:solidFill>
                <a:latin typeface="Arial"/>
                <a:ea typeface="Arial"/>
                <a:cs typeface="Arial"/>
                <a:sym typeface="Arial"/>
              </a:rPr>
              <a:t>We merged </a:t>
            </a:r>
            <a:r>
              <a:rPr b="1" lang="en-CA" sz="1100">
                <a:solidFill>
                  <a:srgbClr val="000000"/>
                </a:solidFill>
                <a:latin typeface="Arial"/>
                <a:ea typeface="Arial"/>
                <a:cs typeface="Arial"/>
                <a:sym typeface="Arial"/>
              </a:rPr>
              <a:t>BTC daily price</a:t>
            </a:r>
            <a:r>
              <a:rPr lang="en-CA" sz="1100">
                <a:solidFill>
                  <a:srgbClr val="000000"/>
                </a:solidFill>
                <a:latin typeface="Arial"/>
                <a:ea typeface="Arial"/>
                <a:cs typeface="Arial"/>
                <a:sym typeface="Arial"/>
              </a:rPr>
              <a:t>, </a:t>
            </a:r>
            <a:r>
              <a:rPr b="1" lang="en-CA" sz="1100">
                <a:solidFill>
                  <a:srgbClr val="000000"/>
                </a:solidFill>
                <a:latin typeface="Arial"/>
                <a:ea typeface="Arial"/>
                <a:cs typeface="Arial"/>
                <a:sym typeface="Arial"/>
              </a:rPr>
              <a:t>daily news sentiment</a:t>
            </a:r>
            <a:r>
              <a:rPr lang="en-CA" sz="1100">
                <a:solidFill>
                  <a:srgbClr val="000000"/>
                </a:solidFill>
                <a:latin typeface="Arial"/>
                <a:ea typeface="Arial"/>
                <a:cs typeface="Arial"/>
                <a:sym typeface="Arial"/>
              </a:rPr>
              <a:t>, and </a:t>
            </a:r>
            <a:r>
              <a:rPr b="1" lang="en-CA" sz="1100">
                <a:solidFill>
                  <a:srgbClr val="000000"/>
                </a:solidFill>
                <a:latin typeface="Arial"/>
                <a:ea typeface="Arial"/>
                <a:cs typeface="Arial"/>
                <a:sym typeface="Arial"/>
              </a:rPr>
              <a:t>Fear &amp; Greed</a:t>
            </a:r>
            <a:r>
              <a:rPr lang="en-CA" sz="1100">
                <a:solidFill>
                  <a:srgbClr val="000000"/>
                </a:solidFill>
                <a:latin typeface="Arial"/>
                <a:ea typeface="Arial"/>
                <a:cs typeface="Arial"/>
                <a:sym typeface="Arial"/>
              </a:rPr>
              <a:t> using </a:t>
            </a:r>
            <a:r>
              <a:rPr b="1" lang="en-CA" sz="1100">
                <a:solidFill>
                  <a:srgbClr val="000000"/>
                </a:solidFill>
                <a:latin typeface="Arial"/>
                <a:ea typeface="Arial"/>
                <a:cs typeface="Arial"/>
                <a:sym typeface="Arial"/>
              </a:rPr>
              <a:t>Date</a:t>
            </a:r>
            <a:r>
              <a:rPr lang="en-CA" sz="1100">
                <a:solidFill>
                  <a:srgbClr val="000000"/>
                </a:solidFill>
                <a:latin typeface="Arial"/>
                <a:ea typeface="Arial"/>
                <a:cs typeface="Arial"/>
                <a:sym typeface="Arial"/>
              </a:rPr>
              <a:t> as the key.</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Dataset design:</a:t>
            </a:r>
            <a:br>
              <a:rPr b="1" lang="en-CA" sz="1100">
                <a:solidFill>
                  <a:srgbClr val="000000"/>
                </a:solidFill>
                <a:latin typeface="Arial"/>
                <a:ea typeface="Arial"/>
                <a:cs typeface="Arial"/>
                <a:sym typeface="Arial"/>
              </a:rPr>
            </a:br>
            <a:r>
              <a:rPr lang="en-CA" sz="1100">
                <a:solidFill>
                  <a:srgbClr val="000000"/>
                </a:solidFill>
                <a:latin typeface="Arial"/>
                <a:ea typeface="Arial"/>
                <a:cs typeface="Arial"/>
                <a:sym typeface="Arial"/>
              </a:rPr>
              <a:t>In this dataset, </a:t>
            </a:r>
            <a:r>
              <a:rPr b="1" lang="en-CA" sz="1100">
                <a:solidFill>
                  <a:srgbClr val="000000"/>
                </a:solidFill>
                <a:latin typeface="Arial"/>
                <a:ea typeface="Arial"/>
                <a:cs typeface="Arial"/>
                <a:sym typeface="Arial"/>
              </a:rPr>
              <a:t>Twitter-related columns were removed</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Final dataset:</a:t>
            </a:r>
            <a:br>
              <a:rPr b="1" lang="en-CA" sz="1100">
                <a:solidFill>
                  <a:srgbClr val="000000"/>
                </a:solidFill>
                <a:latin typeface="Arial"/>
                <a:ea typeface="Arial"/>
                <a:cs typeface="Arial"/>
                <a:sym typeface="Arial"/>
              </a:rPr>
            </a:br>
            <a:r>
              <a:rPr b="1" lang="en-CA" sz="1100">
                <a:solidFill>
                  <a:srgbClr val="000000"/>
                </a:solidFill>
                <a:latin typeface="Arial"/>
                <a:ea typeface="Arial"/>
                <a:cs typeface="Arial"/>
                <a:sym typeface="Arial"/>
              </a:rPr>
              <a:t>709 rows</a:t>
            </a:r>
            <a:r>
              <a:rPr lang="en-CA" sz="1100">
                <a:solidFill>
                  <a:srgbClr val="000000"/>
                </a:solidFill>
                <a:latin typeface="Arial"/>
                <a:ea typeface="Arial"/>
                <a:cs typeface="Arial"/>
                <a:sym typeface="Arial"/>
              </a:rPr>
              <a:t> with a </a:t>
            </a:r>
            <a:r>
              <a:rPr b="1" lang="en-CA" sz="1100">
                <a:solidFill>
                  <a:srgbClr val="000000"/>
                </a:solidFill>
                <a:latin typeface="Arial"/>
                <a:ea typeface="Arial"/>
                <a:cs typeface="Arial"/>
                <a:sym typeface="Arial"/>
              </a:rPr>
              <a:t>continuous daily timeline</a:t>
            </a:r>
            <a:r>
              <a:rPr lang="en-CA" sz="1100">
                <a:solidFill>
                  <a:srgbClr val="000000"/>
                </a:solidFill>
                <a:latin typeface="Arial"/>
                <a:ea typeface="Arial"/>
                <a:cs typeface="Arial"/>
                <a:sym typeface="Arial"/>
              </a:rPr>
              <a:t> (</a:t>
            </a:r>
            <a:r>
              <a:rPr b="1" lang="en-CA" sz="1100">
                <a:solidFill>
                  <a:srgbClr val="000000"/>
                </a:solidFill>
                <a:latin typeface="Arial"/>
                <a:ea typeface="Arial"/>
                <a:cs typeface="Arial"/>
                <a:sym typeface="Arial"/>
              </a:rPr>
              <a:t>one row per day</a:t>
            </a:r>
            <a:r>
              <a:rPr lang="en-CA" sz="1100">
                <a:solidFill>
                  <a:srgbClr val="000000"/>
                </a:solidFill>
                <a:latin typeface="Arial"/>
                <a:ea typeface="Arial"/>
                <a:cs typeface="Arial"/>
                <a:sym typeface="Arial"/>
              </a:rPr>
              <a:t>).</a:t>
            </a:r>
            <a:endParaRPr b="1">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27" name="Google Shape;127;p18"/>
          <p:cNvSpPr txBox="1"/>
          <p:nvPr>
            <p:ph idx="1" type="body"/>
          </p:nvPr>
        </p:nvSpPr>
        <p:spPr>
          <a:xfrm>
            <a:off x="29525" y="4331400"/>
            <a:ext cx="8677800" cy="8121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SzPts val="275"/>
              <a:buNone/>
            </a:pPr>
            <a:r>
              <a:t/>
            </a:r>
            <a:endParaRPr b="1" sz="825">
              <a:solidFill>
                <a:srgbClr val="000000"/>
              </a:solidFill>
              <a:latin typeface="Arial"/>
              <a:ea typeface="Arial"/>
              <a:cs typeface="Arial"/>
              <a:sym typeface="Arial"/>
            </a:endParaRPr>
          </a:p>
          <a:p>
            <a:pPr indent="0" lvl="0" marL="0" rtl="0" algn="l">
              <a:spcBef>
                <a:spcPts val="1200"/>
              </a:spcBef>
              <a:spcAft>
                <a:spcPts val="0"/>
              </a:spcAft>
              <a:buNone/>
            </a:pPr>
            <a:r>
              <a:rPr lang="en-CA" sz="1000">
                <a:solidFill>
                  <a:srgbClr val="000000"/>
                </a:solidFill>
                <a:latin typeface="Arial"/>
                <a:ea typeface="Arial"/>
                <a:cs typeface="Arial"/>
                <a:sym typeface="Arial"/>
              </a:rPr>
              <a:t>We used two main datasets:</a:t>
            </a:r>
            <a:r>
              <a:rPr b="1" lang="en-CA" sz="1000">
                <a:solidFill>
                  <a:srgbClr val="000000"/>
                </a:solidFill>
                <a:latin typeface="Arial"/>
                <a:ea typeface="Arial"/>
                <a:cs typeface="Arial"/>
                <a:sym typeface="Arial"/>
              </a:rPr>
              <a:t>B</a:t>
            </a:r>
            <a:r>
              <a:rPr b="1" lang="en-CA" sz="1000">
                <a:solidFill>
                  <a:srgbClr val="000000"/>
                </a:solidFill>
                <a:latin typeface="Arial"/>
                <a:ea typeface="Arial"/>
                <a:cs typeface="Arial"/>
                <a:sym typeface="Arial"/>
              </a:rPr>
              <a:t>TC + News + Twitter (167 days) </a:t>
            </a:r>
            <a:r>
              <a:rPr lang="en-CA" sz="1000">
                <a:solidFill>
                  <a:srgbClr val="000000"/>
                </a:solidFill>
                <a:latin typeface="Arial"/>
                <a:ea typeface="Arial"/>
                <a:cs typeface="Arial"/>
                <a:sym typeface="Arial"/>
              </a:rPr>
              <a:t>The timeline is </a:t>
            </a:r>
            <a:r>
              <a:rPr b="1" lang="en-CA" sz="1000">
                <a:solidFill>
                  <a:srgbClr val="000000"/>
                </a:solidFill>
                <a:latin typeface="Arial"/>
                <a:ea typeface="Arial"/>
                <a:cs typeface="Arial"/>
                <a:sym typeface="Arial"/>
              </a:rPr>
              <a:t>not continuous</a:t>
            </a:r>
            <a:r>
              <a:rPr lang="en-CA" sz="1000">
                <a:solidFill>
                  <a:srgbClr val="000000"/>
                </a:solidFill>
                <a:latin typeface="Arial"/>
                <a:ea typeface="Arial"/>
                <a:cs typeface="Arial"/>
                <a:sym typeface="Arial"/>
              </a:rPr>
              <a:t> (there are </a:t>
            </a:r>
            <a:r>
              <a:rPr b="1" lang="en-CA" sz="1000">
                <a:solidFill>
                  <a:srgbClr val="000000"/>
                </a:solidFill>
                <a:latin typeface="Arial"/>
                <a:ea typeface="Arial"/>
                <a:cs typeface="Arial"/>
                <a:sym typeface="Arial"/>
              </a:rPr>
              <a:t>gaps</a:t>
            </a:r>
            <a:r>
              <a:rPr lang="en-CA" sz="1000">
                <a:solidFill>
                  <a:srgbClr val="000000"/>
                </a:solidFill>
                <a:latin typeface="Arial"/>
                <a:ea typeface="Arial"/>
                <a:cs typeface="Arial"/>
                <a:sym typeface="Arial"/>
              </a:rPr>
              <a:t> between dates).</a:t>
            </a:r>
            <a:r>
              <a:rPr b="1" lang="en-CA" sz="1000">
                <a:solidFill>
                  <a:srgbClr val="000000"/>
                </a:solidFill>
                <a:latin typeface="Arial"/>
                <a:ea typeface="Arial"/>
                <a:cs typeface="Arial"/>
                <a:sym typeface="Arial"/>
              </a:rPr>
              <a:t>BTC + News + Fear &amp; Greed (709 days) </a:t>
            </a:r>
            <a:r>
              <a:rPr lang="en-CA" sz="1000">
                <a:solidFill>
                  <a:srgbClr val="000000"/>
                </a:solidFill>
                <a:latin typeface="Arial"/>
                <a:ea typeface="Arial"/>
                <a:cs typeface="Arial"/>
                <a:sym typeface="Arial"/>
              </a:rPr>
              <a:t>The timeline is </a:t>
            </a:r>
            <a:r>
              <a:rPr b="1" lang="en-CA" sz="1000">
                <a:solidFill>
                  <a:srgbClr val="000000"/>
                </a:solidFill>
                <a:latin typeface="Arial"/>
                <a:ea typeface="Arial"/>
                <a:cs typeface="Arial"/>
                <a:sym typeface="Arial"/>
              </a:rPr>
              <a:t>continuous</a:t>
            </a:r>
            <a:r>
              <a:rPr lang="en-CA" sz="1000">
                <a:solidFill>
                  <a:srgbClr val="000000"/>
                </a:solidFill>
                <a:latin typeface="Arial"/>
                <a:ea typeface="Arial"/>
                <a:cs typeface="Arial"/>
                <a:sym typeface="Arial"/>
              </a:rPr>
              <a:t> (no gaps).</a:t>
            </a:r>
            <a:endParaRPr sz="1000">
              <a:solidFill>
                <a:srgbClr val="000000"/>
              </a:solidFill>
              <a:latin typeface="Arial"/>
              <a:ea typeface="Arial"/>
              <a:cs typeface="Arial"/>
              <a:sym typeface="Arial"/>
            </a:endParaRPr>
          </a:p>
          <a:p>
            <a:pPr indent="0" lvl="0" marL="0" rtl="0" algn="l">
              <a:lnSpc>
                <a:spcPct val="95000"/>
              </a:lnSpc>
              <a:spcBef>
                <a:spcPts val="1200"/>
              </a:spcBef>
              <a:spcAft>
                <a:spcPts val="0"/>
              </a:spcAft>
              <a:buSzPts val="275"/>
              <a:buNone/>
            </a:pPr>
            <a:r>
              <a:t/>
            </a:r>
            <a:endParaRPr sz="1175">
              <a:solidFill>
                <a:srgbClr val="000000"/>
              </a:solidFill>
              <a:latin typeface="Arial"/>
              <a:ea typeface="Arial"/>
              <a:cs typeface="Arial"/>
              <a:sym typeface="Arial"/>
            </a:endParaRPr>
          </a:p>
          <a:p>
            <a:pPr indent="0" lvl="0" marL="0" rtl="0" algn="l">
              <a:lnSpc>
                <a:spcPct val="95000"/>
              </a:lnSpc>
              <a:spcBef>
                <a:spcPts val="1200"/>
              </a:spcBef>
              <a:spcAft>
                <a:spcPts val="0"/>
              </a:spcAft>
              <a:buSzPts val="275"/>
              <a:buNone/>
            </a:pPr>
            <a:r>
              <a:t/>
            </a:r>
            <a:endParaRPr b="1" sz="775">
              <a:solidFill>
                <a:srgbClr val="000000"/>
              </a:solidFill>
              <a:latin typeface="Arial"/>
              <a:ea typeface="Arial"/>
              <a:cs typeface="Arial"/>
              <a:sym typeface="Arial"/>
            </a:endParaRPr>
          </a:p>
          <a:p>
            <a:pPr indent="0" lvl="0" marL="0" rtl="0" algn="l">
              <a:lnSpc>
                <a:spcPct val="95000"/>
              </a:lnSpc>
              <a:spcBef>
                <a:spcPts val="1200"/>
              </a:spcBef>
              <a:spcAft>
                <a:spcPts val="1200"/>
              </a:spcAft>
              <a:buSzPts val="275"/>
              <a:buNone/>
            </a:pPr>
            <a:r>
              <a:t/>
            </a:r>
            <a:endParaRPr sz="825"/>
          </a:p>
        </p:txBody>
      </p:sp>
      <p:pic>
        <p:nvPicPr>
          <p:cNvPr id="128" name="Google Shape;128;p18"/>
          <p:cNvPicPr preferRelativeResize="0"/>
          <p:nvPr/>
        </p:nvPicPr>
        <p:blipFill>
          <a:blip r:embed="rId3">
            <a:alphaModFix/>
          </a:blip>
          <a:stretch>
            <a:fillRect/>
          </a:stretch>
        </p:blipFill>
        <p:spPr>
          <a:xfrm>
            <a:off x="369827" y="3743025"/>
            <a:ext cx="7749396" cy="6807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727650" y="607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Methodology</a:t>
            </a:r>
            <a:endParaRPr/>
          </a:p>
        </p:txBody>
      </p:sp>
      <p:sp>
        <p:nvSpPr>
          <p:cNvPr id="134" name="Google Shape;134;p19"/>
          <p:cNvSpPr txBox="1"/>
          <p:nvPr>
            <p:ph idx="1" type="body"/>
          </p:nvPr>
        </p:nvSpPr>
        <p:spPr>
          <a:xfrm>
            <a:off x="125750" y="1573875"/>
            <a:ext cx="3083100" cy="33567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CA">
                <a:solidFill>
                  <a:srgbClr val="000000"/>
                </a:solidFill>
                <a:latin typeface="Arial"/>
                <a:ea typeface="Arial"/>
                <a:cs typeface="Arial"/>
                <a:sym typeface="Arial"/>
              </a:rPr>
              <a:t>Prediction Task</a:t>
            </a:r>
            <a:endParaRPr b="1">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CA" sz="1100">
                <a:solidFill>
                  <a:srgbClr val="000000"/>
                </a:solidFill>
                <a:latin typeface="Arial"/>
                <a:ea typeface="Arial"/>
                <a:cs typeface="Arial"/>
                <a:sym typeface="Arial"/>
              </a:rPr>
              <a:t>Goal:</a:t>
            </a:r>
            <a:r>
              <a:rPr lang="en-CA" sz="1100">
                <a:solidFill>
                  <a:srgbClr val="000000"/>
                </a:solidFill>
                <a:latin typeface="Arial"/>
                <a:ea typeface="Arial"/>
                <a:cs typeface="Arial"/>
                <a:sym typeface="Arial"/>
              </a:rPr>
              <a:t> Predict the </a:t>
            </a:r>
            <a:r>
              <a:rPr b="1" lang="en-CA" sz="1100">
                <a:solidFill>
                  <a:srgbClr val="000000"/>
                </a:solidFill>
                <a:latin typeface="Arial"/>
                <a:ea typeface="Arial"/>
                <a:cs typeface="Arial"/>
                <a:sym typeface="Arial"/>
              </a:rPr>
              <a:t>next-day closing direction</a:t>
            </a:r>
            <a:r>
              <a:rPr lang="en-CA" sz="1100">
                <a:solidFill>
                  <a:srgbClr val="000000"/>
                </a:solidFill>
                <a:latin typeface="Arial"/>
                <a:ea typeface="Arial"/>
                <a:cs typeface="Arial"/>
                <a:sym typeface="Arial"/>
              </a:rPr>
              <a:t> of Bitcoin.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CA" sz="1100">
                <a:solidFill>
                  <a:srgbClr val="000000"/>
                </a:solidFill>
                <a:latin typeface="Arial"/>
                <a:ea typeface="Arial"/>
                <a:cs typeface="Arial"/>
                <a:sym typeface="Arial"/>
              </a:rPr>
              <a:t>Problem type:</a:t>
            </a:r>
            <a:r>
              <a:rPr lang="en-CA" sz="1100">
                <a:solidFill>
                  <a:srgbClr val="000000"/>
                </a:solidFill>
                <a:latin typeface="Arial"/>
                <a:ea typeface="Arial"/>
                <a:cs typeface="Arial"/>
                <a:sym typeface="Arial"/>
              </a:rPr>
              <a:t> </a:t>
            </a:r>
            <a:r>
              <a:rPr b="1" lang="en-CA" sz="1100">
                <a:solidFill>
                  <a:srgbClr val="000000"/>
                </a:solidFill>
                <a:latin typeface="Arial"/>
                <a:ea typeface="Arial"/>
                <a:cs typeface="Arial"/>
                <a:sym typeface="Arial"/>
              </a:rPr>
              <a:t>3-class classification</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CA">
                <a:solidFill>
                  <a:srgbClr val="000000"/>
                </a:solidFill>
                <a:latin typeface="Arial"/>
                <a:ea typeface="Arial"/>
                <a:cs typeface="Arial"/>
                <a:sym typeface="Arial"/>
              </a:rPr>
              <a:t>Down</a:t>
            </a:r>
            <a:endParaRPr b="1">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CA">
                <a:solidFill>
                  <a:srgbClr val="000000"/>
                </a:solidFill>
                <a:latin typeface="Arial"/>
                <a:ea typeface="Arial"/>
                <a:cs typeface="Arial"/>
                <a:sym typeface="Arial"/>
              </a:rPr>
              <a:t>No-change</a:t>
            </a:r>
            <a:endParaRPr b="1">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CA">
                <a:solidFill>
                  <a:srgbClr val="000000"/>
                </a:solidFill>
                <a:latin typeface="Arial"/>
                <a:ea typeface="Arial"/>
                <a:cs typeface="Arial"/>
                <a:sym typeface="Arial"/>
              </a:rPr>
              <a:t>Up</a:t>
            </a:r>
            <a:endParaRPr b="1">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CA" sz="1100">
                <a:solidFill>
                  <a:srgbClr val="000000"/>
                </a:solidFill>
                <a:latin typeface="Arial"/>
                <a:ea typeface="Arial"/>
                <a:cs typeface="Arial"/>
                <a:sym typeface="Arial"/>
              </a:rPr>
              <a:t>Evaluation setup:</a:t>
            </a:r>
            <a:r>
              <a:rPr lang="en-CA" sz="1100">
                <a:solidFill>
                  <a:srgbClr val="000000"/>
                </a:solidFill>
                <a:latin typeface="Arial"/>
                <a:ea typeface="Arial"/>
                <a:cs typeface="Arial"/>
                <a:sym typeface="Arial"/>
              </a:rPr>
              <a:t> We used </a:t>
            </a:r>
            <a:r>
              <a:rPr b="1" lang="en-CA" sz="1100">
                <a:solidFill>
                  <a:srgbClr val="000000"/>
                </a:solidFill>
                <a:latin typeface="Arial"/>
                <a:ea typeface="Arial"/>
                <a:cs typeface="Arial"/>
                <a:sym typeface="Arial"/>
              </a:rPr>
              <a:t>walk-forward validation</a:t>
            </a:r>
            <a:r>
              <a:rPr lang="en-CA" sz="1100">
                <a:solidFill>
                  <a:srgbClr val="000000"/>
                </a:solidFill>
                <a:latin typeface="Arial"/>
                <a:ea typeface="Arial"/>
                <a:cs typeface="Arial"/>
                <a:sym typeface="Arial"/>
              </a:rPr>
              <a:t> to keep the </a:t>
            </a:r>
            <a:r>
              <a:rPr b="1" lang="en-CA" sz="1100">
                <a:solidFill>
                  <a:srgbClr val="000000"/>
                </a:solidFill>
                <a:latin typeface="Arial"/>
                <a:ea typeface="Arial"/>
                <a:cs typeface="Arial"/>
                <a:sym typeface="Arial"/>
              </a:rPr>
              <a:t>time order</a:t>
            </a:r>
            <a:r>
              <a:rPr lang="en-CA" sz="1100">
                <a:solidFill>
                  <a:srgbClr val="000000"/>
                </a:solidFill>
                <a:latin typeface="Arial"/>
                <a:ea typeface="Arial"/>
                <a:cs typeface="Arial"/>
                <a:sym typeface="Arial"/>
              </a:rPr>
              <a:t> and avoid look-ahead bias.</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b="1" sz="1100">
              <a:solidFill>
                <a:srgbClr val="000000"/>
              </a:solidFill>
              <a:latin typeface="Arial"/>
              <a:ea typeface="Arial"/>
              <a:cs typeface="Arial"/>
              <a:sym typeface="Arial"/>
            </a:endParaRPr>
          </a:p>
          <a:p>
            <a:pPr indent="0" lvl="0" marL="0" rtl="0" algn="l">
              <a:spcBef>
                <a:spcPts val="1200"/>
              </a:spcBef>
              <a:spcAft>
                <a:spcPts val="1200"/>
              </a:spcAft>
              <a:buNone/>
            </a:pPr>
            <a:r>
              <a:t/>
            </a:r>
            <a:endParaRPr sz="1100">
              <a:solidFill>
                <a:srgbClr val="000000"/>
              </a:solidFill>
              <a:latin typeface="Arial"/>
              <a:ea typeface="Arial"/>
              <a:cs typeface="Arial"/>
              <a:sym typeface="Arial"/>
            </a:endParaRPr>
          </a:p>
        </p:txBody>
      </p:sp>
      <p:sp>
        <p:nvSpPr>
          <p:cNvPr id="135" name="Google Shape;135;p19"/>
          <p:cNvSpPr txBox="1"/>
          <p:nvPr>
            <p:ph idx="1" type="body"/>
          </p:nvPr>
        </p:nvSpPr>
        <p:spPr>
          <a:xfrm>
            <a:off x="3208775" y="1096350"/>
            <a:ext cx="5723100" cy="3722100"/>
          </a:xfrm>
          <a:prstGeom prst="rect">
            <a:avLst/>
          </a:prstGeom>
        </p:spPr>
        <p:txBody>
          <a:bodyPr anchorCtr="0" anchor="t" bIns="91425" lIns="91425" spcFirstLastPara="1" rIns="91425" wrap="square" tIns="91425">
            <a:normAutofit fontScale="77500" lnSpcReduction="20000"/>
          </a:bodyPr>
          <a:lstStyle/>
          <a:p>
            <a:pPr indent="0" lvl="0" marL="0" rtl="0" algn="l">
              <a:spcBef>
                <a:spcPts val="1400"/>
              </a:spcBef>
              <a:spcAft>
                <a:spcPts val="0"/>
              </a:spcAft>
              <a:buNone/>
            </a:pPr>
            <a:r>
              <a:rPr b="1" lang="en-CA">
                <a:solidFill>
                  <a:srgbClr val="000000"/>
                </a:solidFill>
                <a:latin typeface="Arial"/>
                <a:ea typeface="Arial"/>
                <a:cs typeface="Arial"/>
                <a:sym typeface="Arial"/>
              </a:rPr>
              <a:t>How Are the Thresholds Defined?</a:t>
            </a:r>
            <a:endParaRPr b="1">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Return definition:</a:t>
            </a:r>
            <a:r>
              <a:rPr lang="en-CA" sz="1100">
                <a:solidFill>
                  <a:srgbClr val="000000"/>
                </a:solidFill>
                <a:latin typeface="Arial"/>
                <a:ea typeface="Arial"/>
                <a:cs typeface="Arial"/>
                <a:sym typeface="Arial"/>
              </a:rPr>
              <a:t> We use the daily log return</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lang="en-CA" sz="1100">
                <a:solidFill>
                  <a:srgbClr val="000000"/>
                </a:solidFill>
                <a:latin typeface="Arial"/>
                <a:ea typeface="Arial"/>
                <a:cs typeface="Arial"/>
                <a:sym typeface="Arial"/>
              </a:rPr>
              <a:t>The model target is the </a:t>
            </a:r>
            <a:r>
              <a:rPr b="1" lang="en-CA" sz="1100">
                <a:solidFill>
                  <a:srgbClr val="000000"/>
                </a:solidFill>
                <a:latin typeface="Arial"/>
                <a:ea typeface="Arial"/>
                <a:cs typeface="Arial"/>
                <a:sym typeface="Arial"/>
              </a:rPr>
              <a:t>direction of next-day return</a:t>
            </a:r>
            <a:r>
              <a:rPr lang="en-CA" sz="1100">
                <a:solidFill>
                  <a:srgbClr val="000000"/>
                </a:solidFill>
                <a:latin typeface="Arial"/>
                <a:ea typeface="Arial"/>
                <a:cs typeface="Arial"/>
                <a:sym typeface="Arial"/>
              </a:rPr>
              <a:t> ( r_t+1)</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Quantile / tercile labeling:</a:t>
            </a:r>
            <a:r>
              <a:rPr lang="en-CA" sz="1100">
                <a:solidFill>
                  <a:srgbClr val="000000"/>
                </a:solidFill>
                <a:latin typeface="Arial"/>
                <a:ea typeface="Arial"/>
                <a:cs typeface="Arial"/>
                <a:sym typeface="Arial"/>
              </a:rPr>
              <a:t> In each </a:t>
            </a:r>
            <a:r>
              <a:rPr b="1" lang="en-CA" sz="1100">
                <a:solidFill>
                  <a:srgbClr val="000000"/>
                </a:solidFill>
                <a:latin typeface="Arial"/>
                <a:ea typeface="Arial"/>
                <a:cs typeface="Arial"/>
                <a:sym typeface="Arial"/>
              </a:rPr>
              <a:t>walk-forward fold</a:t>
            </a:r>
            <a:r>
              <a:rPr lang="en-CA" sz="1100">
                <a:solidFill>
                  <a:srgbClr val="000000"/>
                </a:solidFill>
                <a:latin typeface="Arial"/>
                <a:ea typeface="Arial"/>
                <a:cs typeface="Arial"/>
                <a:sym typeface="Arial"/>
              </a:rPr>
              <a:t>, we compute two thresholds </a:t>
            </a:r>
            <a:r>
              <a:rPr b="1" lang="en-CA" sz="1100">
                <a:solidFill>
                  <a:srgbClr val="000000"/>
                </a:solidFill>
                <a:latin typeface="Arial"/>
                <a:ea typeface="Arial"/>
                <a:cs typeface="Arial"/>
                <a:sym typeface="Arial"/>
              </a:rPr>
              <a:t>only from the TRAIN part</a:t>
            </a:r>
            <a:r>
              <a:rPr lang="en-CA" sz="1100">
                <a:solidFill>
                  <a:srgbClr val="000000"/>
                </a:solidFill>
                <a:latin typeface="Arial"/>
                <a:ea typeface="Arial"/>
                <a:cs typeface="Arial"/>
                <a:sym typeface="Arial"/>
              </a:rPr>
              <a:t> of the ( r_{t+1} ) distribution:</a:t>
            </a:r>
            <a:endParaRPr sz="1100">
              <a:solidFill>
                <a:srgbClr val="000000"/>
              </a:solidFill>
              <a:latin typeface="Arial"/>
              <a:ea typeface="Arial"/>
              <a:cs typeface="Arial"/>
              <a:sym typeface="Arial"/>
            </a:endParaRPr>
          </a:p>
          <a:p>
            <a:pPr indent="-282734" lvl="1" marL="914400" rtl="0" algn="l">
              <a:spcBef>
                <a:spcPts val="0"/>
              </a:spcBef>
              <a:spcAft>
                <a:spcPts val="0"/>
              </a:spcAft>
              <a:buClr>
                <a:srgbClr val="000000"/>
              </a:buClr>
              <a:buSzPct val="100000"/>
              <a:buFont typeface="Arial"/>
              <a:buChar char="○"/>
            </a:pPr>
            <a:r>
              <a:rPr lang="en-CA">
                <a:solidFill>
                  <a:srgbClr val="000000"/>
                </a:solidFill>
                <a:latin typeface="Arial"/>
                <a:ea typeface="Arial"/>
                <a:cs typeface="Arial"/>
                <a:sym typeface="Arial"/>
              </a:rPr>
              <a:t>( qlow = Q_{0.33} ) (bottom 33%)</a:t>
            </a:r>
            <a:endParaRPr>
              <a:solidFill>
                <a:srgbClr val="000000"/>
              </a:solidFill>
              <a:latin typeface="Arial"/>
              <a:ea typeface="Arial"/>
              <a:cs typeface="Arial"/>
              <a:sym typeface="Arial"/>
            </a:endParaRPr>
          </a:p>
          <a:p>
            <a:pPr indent="-282734" lvl="1" marL="914400" rtl="0" algn="l">
              <a:spcBef>
                <a:spcPts val="0"/>
              </a:spcBef>
              <a:spcAft>
                <a:spcPts val="0"/>
              </a:spcAft>
              <a:buClr>
                <a:srgbClr val="000000"/>
              </a:buClr>
              <a:buSzPct val="100000"/>
              <a:buFont typeface="Arial"/>
              <a:buChar char="○"/>
            </a:pPr>
            <a:r>
              <a:rPr lang="en-CA">
                <a:solidFill>
                  <a:srgbClr val="000000"/>
                </a:solidFill>
                <a:latin typeface="Arial"/>
                <a:ea typeface="Arial"/>
                <a:cs typeface="Arial"/>
                <a:sym typeface="Arial"/>
              </a:rPr>
              <a:t>( qhigh = Q_{0.67} ) (top 33%)</a:t>
            </a:r>
            <a:endParaRPr>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3-class definition:</a:t>
            </a:r>
            <a:endParaRPr>
              <a:solidFill>
                <a:srgbClr val="000000"/>
              </a:solidFill>
              <a:latin typeface="Arial"/>
              <a:ea typeface="Arial"/>
              <a:cs typeface="Arial"/>
              <a:sym typeface="Arial"/>
            </a:endParaRPr>
          </a:p>
          <a:p>
            <a:pPr indent="0" lvl="0" marL="457200" rtl="0" algn="l">
              <a:spcBef>
                <a:spcPts val="1200"/>
              </a:spcBef>
              <a:spcAft>
                <a:spcPts val="0"/>
              </a:spcAft>
              <a:buNone/>
            </a:pPr>
            <a:r>
              <a:t/>
            </a:r>
            <a:endParaRPr b="1" sz="1100">
              <a:solidFill>
                <a:srgbClr val="000000"/>
              </a:solidFill>
              <a:latin typeface="Arial"/>
              <a:ea typeface="Arial"/>
              <a:cs typeface="Arial"/>
              <a:sym typeface="Arial"/>
            </a:endParaRPr>
          </a:p>
          <a:p>
            <a:pPr indent="0" lvl="0" marL="457200" rtl="0" algn="l">
              <a:spcBef>
                <a:spcPts val="1200"/>
              </a:spcBef>
              <a:spcAft>
                <a:spcPts val="0"/>
              </a:spcAft>
              <a:buNone/>
            </a:pPr>
            <a:r>
              <a:t/>
            </a:r>
            <a:endParaRPr b="1" sz="1100">
              <a:solidFill>
                <a:srgbClr val="000000"/>
              </a:solidFill>
              <a:latin typeface="Arial"/>
              <a:ea typeface="Arial"/>
              <a:cs typeface="Arial"/>
              <a:sym typeface="Arial"/>
            </a:endParaRPr>
          </a:p>
          <a:p>
            <a:pPr indent="0" lvl="0" marL="457200" rtl="0" algn="l">
              <a:spcBef>
                <a:spcPts val="1200"/>
              </a:spcBef>
              <a:spcAft>
                <a:spcPts val="0"/>
              </a:spcAft>
              <a:buNone/>
            </a:pPr>
            <a:r>
              <a:t/>
            </a:r>
            <a:endParaRPr b="1" sz="1100">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No look-ahead:</a:t>
            </a:r>
            <a:r>
              <a:rPr lang="en-CA" sz="1100">
                <a:solidFill>
                  <a:srgbClr val="000000"/>
                </a:solidFill>
                <a:latin typeface="Arial"/>
                <a:ea typeface="Arial"/>
                <a:cs typeface="Arial"/>
                <a:sym typeface="Arial"/>
              </a:rPr>
              <a:t> Thresholds are derived </a:t>
            </a:r>
            <a:r>
              <a:rPr b="1" lang="en-CA" sz="1100">
                <a:solidFill>
                  <a:srgbClr val="000000"/>
                </a:solidFill>
                <a:latin typeface="Arial"/>
                <a:ea typeface="Arial"/>
                <a:cs typeface="Arial"/>
                <a:sym typeface="Arial"/>
              </a:rPr>
              <a:t>only from the training data</a:t>
            </a:r>
            <a:r>
              <a:rPr lang="en-CA" sz="1100">
                <a:solidFill>
                  <a:srgbClr val="000000"/>
                </a:solidFill>
                <a:latin typeface="Arial"/>
                <a:ea typeface="Arial"/>
                <a:cs typeface="Arial"/>
                <a:sym typeface="Arial"/>
              </a:rPr>
              <a:t> and then applied to the </a:t>
            </a:r>
            <a:r>
              <a:rPr b="1" lang="en-CA" sz="1100">
                <a:solidFill>
                  <a:srgbClr val="000000"/>
                </a:solidFill>
                <a:latin typeface="Arial"/>
                <a:ea typeface="Arial"/>
                <a:cs typeface="Arial"/>
                <a:sym typeface="Arial"/>
              </a:rPr>
              <a:t>test part of the same fold</a:t>
            </a:r>
            <a:r>
              <a:rPr lang="en-CA" sz="1100">
                <a:solidFill>
                  <a:srgbClr val="000000"/>
                </a:solidFill>
                <a:latin typeface="Arial"/>
                <a:ea typeface="Arial"/>
                <a:cs typeface="Arial"/>
                <a:sym typeface="Arial"/>
              </a:rPr>
              <a:t>, preventing </a:t>
            </a:r>
            <a:r>
              <a:rPr b="1" lang="en-CA" sz="1100">
                <a:solidFill>
                  <a:srgbClr val="000000"/>
                </a:solidFill>
                <a:latin typeface="Arial"/>
                <a:ea typeface="Arial"/>
                <a:cs typeface="Arial"/>
                <a:sym typeface="Arial"/>
              </a:rPr>
              <a:t>future information leakage</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sz="1100">
              <a:solidFill>
                <a:srgbClr val="000000"/>
              </a:solidFill>
              <a:latin typeface="Arial"/>
              <a:ea typeface="Arial"/>
              <a:cs typeface="Arial"/>
              <a:sym typeface="Arial"/>
            </a:endParaRPr>
          </a:p>
        </p:txBody>
      </p:sp>
      <p:pic>
        <p:nvPicPr>
          <p:cNvPr id="136" name="Google Shape;136;p19"/>
          <p:cNvPicPr preferRelativeResize="0"/>
          <p:nvPr/>
        </p:nvPicPr>
        <p:blipFill>
          <a:blip r:embed="rId3">
            <a:alphaModFix/>
          </a:blip>
          <a:stretch>
            <a:fillRect/>
          </a:stretch>
        </p:blipFill>
        <p:spPr>
          <a:xfrm>
            <a:off x="4745850" y="1726850"/>
            <a:ext cx="973774" cy="535200"/>
          </a:xfrm>
          <a:prstGeom prst="rect">
            <a:avLst/>
          </a:prstGeom>
          <a:noFill/>
          <a:ln>
            <a:noFill/>
          </a:ln>
        </p:spPr>
      </p:pic>
      <p:pic>
        <p:nvPicPr>
          <p:cNvPr id="137" name="Google Shape;137;p19"/>
          <p:cNvPicPr preferRelativeResize="0"/>
          <p:nvPr/>
        </p:nvPicPr>
        <p:blipFill>
          <a:blip r:embed="rId4">
            <a:alphaModFix/>
          </a:blip>
          <a:stretch>
            <a:fillRect/>
          </a:stretch>
        </p:blipFill>
        <p:spPr>
          <a:xfrm>
            <a:off x="4572009" y="3199025"/>
            <a:ext cx="1724540" cy="535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type="title"/>
          </p:nvPr>
        </p:nvSpPr>
        <p:spPr>
          <a:xfrm>
            <a:off x="727650" y="6172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Feature Engineering</a:t>
            </a:r>
            <a:endParaRPr/>
          </a:p>
        </p:txBody>
      </p:sp>
      <p:sp>
        <p:nvSpPr>
          <p:cNvPr id="143" name="Google Shape;143;p20"/>
          <p:cNvSpPr txBox="1"/>
          <p:nvPr>
            <p:ph idx="1" type="body"/>
          </p:nvPr>
        </p:nvSpPr>
        <p:spPr>
          <a:xfrm>
            <a:off x="595200" y="1386225"/>
            <a:ext cx="8448600" cy="36582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en-CA" sz="1100">
                <a:solidFill>
                  <a:srgbClr val="000000"/>
                </a:solidFill>
                <a:latin typeface="Arial"/>
                <a:ea typeface="Arial"/>
                <a:cs typeface="Arial"/>
                <a:sym typeface="Arial"/>
              </a:rPr>
              <a:t>Baseline: Price Features (OHLCV)</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lang="en-CA" sz="1100">
                <a:solidFill>
                  <a:srgbClr val="000000"/>
                </a:solidFill>
                <a:latin typeface="Arial"/>
                <a:ea typeface="Arial"/>
                <a:cs typeface="Arial"/>
                <a:sym typeface="Arial"/>
              </a:rPr>
              <a:t>We use </a:t>
            </a:r>
            <a:r>
              <a:rPr b="1" lang="en-CA" sz="1100">
                <a:solidFill>
                  <a:srgbClr val="000000"/>
                </a:solidFill>
                <a:latin typeface="Arial"/>
                <a:ea typeface="Arial"/>
                <a:cs typeface="Arial"/>
                <a:sym typeface="Arial"/>
              </a:rPr>
              <a:t>16 price-based features</a:t>
            </a:r>
            <a:r>
              <a:rPr lang="en-CA" sz="1100">
                <a:solidFill>
                  <a:srgbClr val="000000"/>
                </a:solidFill>
                <a:latin typeface="Arial"/>
                <a:ea typeface="Arial"/>
                <a:cs typeface="Arial"/>
                <a:sym typeface="Arial"/>
              </a:rPr>
              <a:t> derived from </a:t>
            </a:r>
            <a:r>
              <a:rPr b="1" lang="en-CA" sz="1100">
                <a:solidFill>
                  <a:srgbClr val="000000"/>
                </a:solidFill>
                <a:latin typeface="Arial"/>
                <a:ea typeface="Arial"/>
                <a:cs typeface="Arial"/>
                <a:sym typeface="Arial"/>
              </a:rPr>
              <a:t>OHLCV</a:t>
            </a:r>
            <a:r>
              <a:rPr lang="en-CA" sz="1100">
                <a:solidFill>
                  <a:srgbClr val="000000"/>
                </a:solidFill>
                <a:latin typeface="Arial"/>
                <a:ea typeface="Arial"/>
                <a:cs typeface="Arial"/>
                <a:sym typeface="Arial"/>
              </a:rPr>
              <a:t> data, as:</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CA" sz="1100">
                <a:solidFill>
                  <a:srgbClr val="000000"/>
                </a:solidFill>
                <a:latin typeface="Arial"/>
                <a:ea typeface="Arial"/>
                <a:cs typeface="Arial"/>
                <a:sym typeface="Arial"/>
              </a:rPr>
              <a:t>Behavioral Signals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CA" sz="1100">
                <a:solidFill>
                  <a:srgbClr val="000000"/>
                </a:solidFill>
                <a:latin typeface="Arial"/>
                <a:ea typeface="Arial"/>
                <a:cs typeface="Arial"/>
                <a:sym typeface="Arial"/>
              </a:rPr>
              <a:t>Fear &amp; Greed Index (1 feature)</a:t>
            </a:r>
            <a:br>
              <a:rPr b="1" lang="en-CA" sz="1100">
                <a:solidFill>
                  <a:srgbClr val="000000"/>
                </a:solidFill>
                <a:latin typeface="Arial"/>
                <a:ea typeface="Arial"/>
                <a:cs typeface="Arial"/>
                <a:sym typeface="Arial"/>
              </a:rPr>
            </a:br>
            <a:r>
              <a:rPr lang="en-CA" sz="1100">
                <a:solidFill>
                  <a:srgbClr val="000000"/>
                </a:solidFill>
                <a:latin typeface="Arial"/>
                <a:ea typeface="Arial"/>
                <a:cs typeface="Arial"/>
                <a:sym typeface="Arial"/>
              </a:rPr>
              <a:t>A single daily value from </a:t>
            </a:r>
            <a:r>
              <a:rPr b="1" lang="en-CA" sz="1100">
                <a:solidFill>
                  <a:srgbClr val="000000"/>
                </a:solidFill>
                <a:latin typeface="Arial"/>
                <a:ea typeface="Arial"/>
                <a:cs typeface="Arial"/>
                <a:sym typeface="Arial"/>
              </a:rPr>
              <a:t>0 to 100</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CA">
                <a:solidFill>
                  <a:srgbClr val="000000"/>
                </a:solidFill>
                <a:latin typeface="Arial"/>
                <a:ea typeface="Arial"/>
                <a:cs typeface="Arial"/>
                <a:sym typeface="Arial"/>
              </a:rPr>
              <a:t>0</a:t>
            </a:r>
            <a:r>
              <a:rPr lang="en-CA">
                <a:solidFill>
                  <a:srgbClr val="000000"/>
                </a:solidFill>
                <a:latin typeface="Arial"/>
                <a:ea typeface="Arial"/>
                <a:cs typeface="Arial"/>
                <a:sym typeface="Arial"/>
              </a:rPr>
              <a:t> = </a:t>
            </a:r>
            <a:r>
              <a:rPr i="1" lang="en-CA">
                <a:solidFill>
                  <a:srgbClr val="000000"/>
                </a:solidFill>
                <a:latin typeface="Arial"/>
                <a:ea typeface="Arial"/>
                <a:cs typeface="Arial"/>
                <a:sym typeface="Arial"/>
              </a:rPr>
              <a:t>Extreme Fear</a:t>
            </a:r>
            <a:endParaRPr i="1">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CA">
                <a:solidFill>
                  <a:srgbClr val="000000"/>
                </a:solidFill>
                <a:latin typeface="Arial"/>
                <a:ea typeface="Arial"/>
                <a:cs typeface="Arial"/>
                <a:sym typeface="Arial"/>
              </a:rPr>
              <a:t>100</a:t>
            </a:r>
            <a:r>
              <a:rPr lang="en-CA">
                <a:solidFill>
                  <a:srgbClr val="000000"/>
                </a:solidFill>
                <a:latin typeface="Arial"/>
                <a:ea typeface="Arial"/>
                <a:cs typeface="Arial"/>
                <a:sym typeface="Arial"/>
              </a:rPr>
              <a:t> = </a:t>
            </a:r>
            <a:r>
              <a:rPr i="1" lang="en-CA">
                <a:solidFill>
                  <a:srgbClr val="000000"/>
                </a:solidFill>
                <a:latin typeface="Arial"/>
                <a:ea typeface="Arial"/>
                <a:cs typeface="Arial"/>
                <a:sym typeface="Arial"/>
              </a:rPr>
              <a:t>Extreme Greed</a:t>
            </a:r>
            <a:endParaRPr i="1">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CA" sz="1100">
                <a:solidFill>
                  <a:srgbClr val="000000"/>
                </a:solidFill>
                <a:latin typeface="Arial"/>
                <a:ea typeface="Arial"/>
                <a:cs typeface="Arial"/>
                <a:sym typeface="Arial"/>
              </a:rPr>
              <a:t>News sentiment (4 features: neg / neu / pos / compound)</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CA">
                <a:solidFill>
                  <a:srgbClr val="000000"/>
                </a:solidFill>
                <a:latin typeface="Arial"/>
                <a:ea typeface="Arial"/>
                <a:cs typeface="Arial"/>
                <a:sym typeface="Arial"/>
              </a:rPr>
              <a:t>neg / neu / pos:</a:t>
            </a:r>
            <a:r>
              <a:rPr lang="en-CA">
                <a:solidFill>
                  <a:srgbClr val="000000"/>
                </a:solidFill>
                <a:latin typeface="Arial"/>
                <a:ea typeface="Arial"/>
                <a:cs typeface="Arial"/>
                <a:sym typeface="Arial"/>
              </a:rPr>
              <a:t> each is between </a:t>
            </a:r>
            <a:r>
              <a:rPr b="1" lang="en-CA">
                <a:solidFill>
                  <a:srgbClr val="000000"/>
                </a:solidFill>
                <a:latin typeface="Arial"/>
                <a:ea typeface="Arial"/>
                <a:cs typeface="Arial"/>
                <a:sym typeface="Arial"/>
              </a:rPr>
              <a:t>0 and 1</a:t>
            </a:r>
            <a:r>
              <a:rPr lang="en-CA">
                <a:solidFill>
                  <a:srgbClr val="000000"/>
                </a:solidFill>
                <a:latin typeface="Arial"/>
                <a:ea typeface="Arial"/>
                <a:cs typeface="Arial"/>
                <a:sym typeface="Arial"/>
              </a:rPr>
              <a:t> (and sums to 1 for a given text set)</a:t>
            </a:r>
            <a:endParaRPr>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CA">
                <a:solidFill>
                  <a:srgbClr val="000000"/>
                </a:solidFill>
                <a:latin typeface="Arial"/>
                <a:ea typeface="Arial"/>
                <a:cs typeface="Arial"/>
                <a:sym typeface="Arial"/>
              </a:rPr>
              <a:t>compound:</a:t>
            </a:r>
            <a:r>
              <a:rPr lang="en-CA">
                <a:solidFill>
                  <a:srgbClr val="000000"/>
                </a:solidFill>
                <a:latin typeface="Arial"/>
                <a:ea typeface="Arial"/>
                <a:cs typeface="Arial"/>
                <a:sym typeface="Arial"/>
              </a:rPr>
              <a:t> overall sentiment score</a:t>
            </a:r>
            <a:endParaRPr>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CA" sz="1100">
                <a:solidFill>
                  <a:srgbClr val="000000"/>
                </a:solidFill>
                <a:latin typeface="Arial"/>
                <a:ea typeface="Arial"/>
                <a:cs typeface="Arial"/>
                <a:sym typeface="Arial"/>
              </a:rPr>
              <a:t>Twitter sentiment (4 features: neg / neu / pos / compound)</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b="1" lang="en-CA">
                <a:solidFill>
                  <a:srgbClr val="000000"/>
                </a:solidFill>
                <a:latin typeface="Arial"/>
                <a:ea typeface="Arial"/>
                <a:cs typeface="Arial"/>
                <a:sym typeface="Arial"/>
              </a:rPr>
              <a:t>compound:</a:t>
            </a:r>
            <a:r>
              <a:rPr lang="en-CA">
                <a:solidFill>
                  <a:srgbClr val="000000"/>
                </a:solidFill>
                <a:latin typeface="Arial"/>
                <a:ea typeface="Arial"/>
                <a:cs typeface="Arial"/>
                <a:sym typeface="Arial"/>
              </a:rPr>
              <a:t> ranges from </a:t>
            </a:r>
            <a:r>
              <a:rPr b="1" lang="en-CA">
                <a:solidFill>
                  <a:srgbClr val="000000"/>
                </a:solidFill>
                <a:latin typeface="Arial"/>
                <a:ea typeface="Arial"/>
                <a:cs typeface="Arial"/>
                <a:sym typeface="Arial"/>
              </a:rPr>
              <a:t>-1 to +1</a:t>
            </a:r>
            <a:r>
              <a:rPr lang="en-CA">
                <a:solidFill>
                  <a:srgbClr val="000000"/>
                </a:solidFill>
                <a:latin typeface="Arial"/>
                <a:ea typeface="Arial"/>
                <a:cs typeface="Arial"/>
                <a:sym typeface="Arial"/>
              </a:rPr>
              <a:t> (negative to positive overall sentiment)</a:t>
            </a:r>
            <a:endParaRPr sz="1000"/>
          </a:p>
        </p:txBody>
      </p:sp>
      <p:pic>
        <p:nvPicPr>
          <p:cNvPr id="144" name="Google Shape;144;p20"/>
          <p:cNvPicPr preferRelativeResize="0"/>
          <p:nvPr/>
        </p:nvPicPr>
        <p:blipFill>
          <a:blip r:embed="rId3">
            <a:alphaModFix/>
          </a:blip>
          <a:stretch>
            <a:fillRect/>
          </a:stretch>
        </p:blipFill>
        <p:spPr>
          <a:xfrm>
            <a:off x="924425" y="1952665"/>
            <a:ext cx="3872500" cy="10183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673350" y="5611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Modeling </a:t>
            </a:r>
            <a:endParaRPr/>
          </a:p>
        </p:txBody>
      </p:sp>
      <p:sp>
        <p:nvSpPr>
          <p:cNvPr id="150" name="Google Shape;150;p21"/>
          <p:cNvSpPr txBox="1"/>
          <p:nvPr>
            <p:ph idx="1" type="body"/>
          </p:nvPr>
        </p:nvSpPr>
        <p:spPr>
          <a:xfrm>
            <a:off x="120725" y="1364850"/>
            <a:ext cx="4649700" cy="1701000"/>
          </a:xfrm>
          <a:prstGeom prst="rect">
            <a:avLst/>
          </a:prstGeom>
        </p:spPr>
        <p:txBody>
          <a:bodyPr anchorCtr="0" anchor="t" bIns="91425" lIns="91425" spcFirstLastPara="1" rIns="91425" wrap="square" tIns="91425">
            <a:normAutofit fontScale="77500" lnSpcReduction="20000"/>
          </a:bodyPr>
          <a:lstStyle/>
          <a:p>
            <a:pPr indent="-297498" lvl="0" marL="457200" rtl="0" algn="l">
              <a:spcBef>
                <a:spcPts val="0"/>
              </a:spcBef>
              <a:spcAft>
                <a:spcPts val="0"/>
              </a:spcAft>
              <a:buSzPct val="100000"/>
              <a:buChar char="●"/>
            </a:pPr>
            <a:r>
              <a:rPr b="1" lang="en-CA" sz="1400">
                <a:solidFill>
                  <a:srgbClr val="000000"/>
                </a:solidFill>
                <a:latin typeface="Arial"/>
                <a:ea typeface="Arial"/>
                <a:cs typeface="Arial"/>
                <a:sym typeface="Arial"/>
              </a:rPr>
              <a:t>LogReg</a:t>
            </a:r>
            <a:r>
              <a:rPr lang="en-CA" sz="1400">
                <a:solidFill>
                  <a:srgbClr val="000000"/>
                </a:solidFill>
                <a:latin typeface="Arial"/>
                <a:ea typeface="Arial"/>
                <a:cs typeface="Arial"/>
                <a:sym typeface="Arial"/>
              </a:rPr>
              <a:t> (StandardScaler + </a:t>
            </a:r>
            <a:r>
              <a:rPr lang="en-CA" sz="1400">
                <a:solidFill>
                  <a:srgbClr val="188038"/>
                </a:solidFill>
                <a:latin typeface="Roboto Mono"/>
                <a:ea typeface="Roboto Mono"/>
                <a:cs typeface="Roboto Mono"/>
                <a:sym typeface="Roboto Mono"/>
              </a:rPr>
              <a:t>max_iter=5000</a:t>
            </a:r>
            <a:r>
              <a:rPr lang="en-CA" sz="1400">
                <a:solidFill>
                  <a:srgbClr val="000000"/>
                </a:solidFill>
                <a:latin typeface="Arial"/>
                <a:ea typeface="Arial"/>
                <a:cs typeface="Arial"/>
                <a:sym typeface="Arial"/>
              </a:rPr>
              <a:t>, </a:t>
            </a:r>
            <a:r>
              <a:rPr lang="en-CA" sz="1400">
                <a:solidFill>
                  <a:srgbClr val="188038"/>
                </a:solidFill>
                <a:latin typeface="Roboto Mono"/>
                <a:ea typeface="Roboto Mono"/>
                <a:cs typeface="Roboto Mono"/>
                <a:sym typeface="Roboto Mono"/>
              </a:rPr>
              <a:t>random_state=42</a:t>
            </a:r>
            <a:r>
              <a:rPr lang="en-CA"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297498" lvl="0" marL="457200" rtl="0" algn="l">
              <a:spcBef>
                <a:spcPts val="0"/>
              </a:spcBef>
              <a:spcAft>
                <a:spcPts val="0"/>
              </a:spcAft>
              <a:buSzPct val="100000"/>
              <a:buChar char="●"/>
            </a:pPr>
            <a:r>
              <a:rPr b="1" lang="en-CA" sz="1400">
                <a:solidFill>
                  <a:srgbClr val="000000"/>
                </a:solidFill>
                <a:latin typeface="Arial"/>
                <a:ea typeface="Arial"/>
                <a:cs typeface="Arial"/>
                <a:sym typeface="Arial"/>
              </a:rPr>
              <a:t>Linear SVM</a:t>
            </a:r>
            <a:r>
              <a:rPr lang="en-CA" sz="1400">
                <a:solidFill>
                  <a:srgbClr val="000000"/>
                </a:solidFill>
                <a:latin typeface="Arial"/>
                <a:ea typeface="Arial"/>
                <a:cs typeface="Arial"/>
                <a:sym typeface="Arial"/>
              </a:rPr>
              <a:t> (StandardScaler + LinearSVC, </a:t>
            </a:r>
            <a:r>
              <a:rPr lang="en-CA" sz="1400">
                <a:solidFill>
                  <a:srgbClr val="188038"/>
                </a:solidFill>
                <a:latin typeface="Roboto Mono"/>
                <a:ea typeface="Roboto Mono"/>
                <a:cs typeface="Roboto Mono"/>
                <a:sym typeface="Roboto Mono"/>
              </a:rPr>
              <a:t>random_state=42</a:t>
            </a:r>
            <a:r>
              <a:rPr lang="en-CA"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297498" lvl="0" marL="457200" rtl="0" algn="l">
              <a:spcBef>
                <a:spcPts val="0"/>
              </a:spcBef>
              <a:spcAft>
                <a:spcPts val="0"/>
              </a:spcAft>
              <a:buSzPct val="100000"/>
              <a:buChar char="●"/>
            </a:pPr>
            <a:r>
              <a:rPr b="1" lang="en-CA" sz="1400">
                <a:solidFill>
                  <a:srgbClr val="000000"/>
                </a:solidFill>
                <a:latin typeface="Arial"/>
                <a:ea typeface="Arial"/>
                <a:cs typeface="Arial"/>
                <a:sym typeface="Arial"/>
              </a:rPr>
              <a:t>RBF SVM</a:t>
            </a:r>
            <a:r>
              <a:rPr lang="en-CA" sz="1400">
                <a:solidFill>
                  <a:srgbClr val="000000"/>
                </a:solidFill>
                <a:latin typeface="Arial"/>
                <a:ea typeface="Arial"/>
                <a:cs typeface="Arial"/>
                <a:sym typeface="Arial"/>
              </a:rPr>
              <a:t> (StandardScaler + SVC(kernel=rbf), </a:t>
            </a:r>
            <a:r>
              <a:rPr lang="en-CA" sz="1400">
                <a:solidFill>
                  <a:srgbClr val="188038"/>
                </a:solidFill>
                <a:latin typeface="Roboto Mono"/>
                <a:ea typeface="Roboto Mono"/>
                <a:cs typeface="Roboto Mono"/>
                <a:sym typeface="Roboto Mono"/>
              </a:rPr>
              <a:t>random_state=42</a:t>
            </a:r>
            <a:r>
              <a:rPr lang="en-CA"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297498" lvl="0" marL="457200" rtl="0" algn="l">
              <a:spcBef>
                <a:spcPts val="0"/>
              </a:spcBef>
              <a:spcAft>
                <a:spcPts val="0"/>
              </a:spcAft>
              <a:buSzPct val="100000"/>
              <a:buChar char="●"/>
            </a:pPr>
            <a:r>
              <a:rPr b="1" lang="en-CA" sz="1400">
                <a:solidFill>
                  <a:srgbClr val="000000"/>
                </a:solidFill>
                <a:latin typeface="Arial"/>
                <a:ea typeface="Arial"/>
                <a:cs typeface="Arial"/>
                <a:sym typeface="Arial"/>
              </a:rPr>
              <a:t>Random Forest</a:t>
            </a:r>
            <a:r>
              <a:rPr lang="en-CA" sz="1400">
                <a:solidFill>
                  <a:srgbClr val="000000"/>
                </a:solidFill>
                <a:latin typeface="Arial"/>
                <a:ea typeface="Arial"/>
                <a:cs typeface="Arial"/>
                <a:sym typeface="Arial"/>
              </a:rPr>
              <a:t> (</a:t>
            </a:r>
            <a:r>
              <a:rPr lang="en-CA" sz="1400">
                <a:solidFill>
                  <a:srgbClr val="188038"/>
                </a:solidFill>
                <a:latin typeface="Roboto Mono"/>
                <a:ea typeface="Roboto Mono"/>
                <a:cs typeface="Roboto Mono"/>
                <a:sym typeface="Roboto Mono"/>
              </a:rPr>
              <a:t>random_state=42</a:t>
            </a:r>
            <a:r>
              <a:rPr lang="en-CA"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297498" lvl="0" marL="457200" rtl="0" algn="l">
              <a:spcBef>
                <a:spcPts val="0"/>
              </a:spcBef>
              <a:spcAft>
                <a:spcPts val="0"/>
              </a:spcAft>
              <a:buSzPct val="100000"/>
              <a:buChar char="●"/>
            </a:pPr>
            <a:r>
              <a:rPr b="1" lang="en-CA" sz="1400">
                <a:solidFill>
                  <a:srgbClr val="000000"/>
                </a:solidFill>
                <a:latin typeface="Arial"/>
                <a:ea typeface="Arial"/>
                <a:cs typeface="Arial"/>
                <a:sym typeface="Arial"/>
              </a:rPr>
              <a:t>Extra Trees</a:t>
            </a:r>
            <a:r>
              <a:rPr lang="en-CA" sz="1400">
                <a:solidFill>
                  <a:srgbClr val="000000"/>
                </a:solidFill>
                <a:latin typeface="Arial"/>
                <a:ea typeface="Arial"/>
                <a:cs typeface="Arial"/>
                <a:sym typeface="Arial"/>
              </a:rPr>
              <a:t> (</a:t>
            </a:r>
            <a:r>
              <a:rPr lang="en-CA" sz="1400">
                <a:solidFill>
                  <a:srgbClr val="188038"/>
                </a:solidFill>
                <a:latin typeface="Roboto Mono"/>
                <a:ea typeface="Roboto Mono"/>
                <a:cs typeface="Roboto Mono"/>
                <a:sym typeface="Roboto Mono"/>
              </a:rPr>
              <a:t>random_state=42</a:t>
            </a:r>
            <a:r>
              <a:rPr lang="en-CA"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297498" lvl="0" marL="457200" rtl="0" algn="l">
              <a:spcBef>
                <a:spcPts val="0"/>
              </a:spcBef>
              <a:spcAft>
                <a:spcPts val="0"/>
              </a:spcAft>
              <a:buSzPct val="100000"/>
              <a:buChar char="●"/>
            </a:pPr>
            <a:r>
              <a:rPr b="1" lang="en-CA" sz="1400">
                <a:solidFill>
                  <a:srgbClr val="000000"/>
                </a:solidFill>
                <a:latin typeface="Arial"/>
                <a:ea typeface="Arial"/>
                <a:cs typeface="Arial"/>
                <a:sym typeface="Arial"/>
              </a:rPr>
              <a:t>Gradient Boosting</a:t>
            </a:r>
            <a:r>
              <a:rPr lang="en-CA" sz="1400">
                <a:solidFill>
                  <a:srgbClr val="000000"/>
                </a:solidFill>
                <a:latin typeface="Arial"/>
                <a:ea typeface="Arial"/>
                <a:cs typeface="Arial"/>
                <a:sym typeface="Arial"/>
              </a:rPr>
              <a:t> (</a:t>
            </a:r>
            <a:r>
              <a:rPr lang="en-CA" sz="1400">
                <a:solidFill>
                  <a:srgbClr val="188038"/>
                </a:solidFill>
                <a:latin typeface="Roboto Mono"/>
                <a:ea typeface="Roboto Mono"/>
                <a:cs typeface="Roboto Mono"/>
                <a:sym typeface="Roboto Mono"/>
              </a:rPr>
              <a:t>random_state=42</a:t>
            </a:r>
            <a:r>
              <a:rPr lang="en-CA"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297498" lvl="0" marL="457200" rtl="0" algn="l">
              <a:spcBef>
                <a:spcPts val="0"/>
              </a:spcBef>
              <a:spcAft>
                <a:spcPts val="0"/>
              </a:spcAft>
              <a:buSzPct val="100000"/>
              <a:buChar char="●"/>
            </a:pPr>
            <a:r>
              <a:rPr b="1" lang="en-CA" sz="1400">
                <a:solidFill>
                  <a:srgbClr val="000000"/>
                </a:solidFill>
                <a:latin typeface="Arial"/>
                <a:ea typeface="Arial"/>
                <a:cs typeface="Arial"/>
                <a:sym typeface="Arial"/>
              </a:rPr>
              <a:t>HistGradientBoosting</a:t>
            </a:r>
            <a:r>
              <a:rPr lang="en-CA" sz="1400">
                <a:solidFill>
                  <a:srgbClr val="000000"/>
                </a:solidFill>
                <a:latin typeface="Arial"/>
                <a:ea typeface="Arial"/>
                <a:cs typeface="Arial"/>
                <a:sym typeface="Arial"/>
              </a:rPr>
              <a:t> (</a:t>
            </a:r>
            <a:r>
              <a:rPr lang="en-CA" sz="1400">
                <a:solidFill>
                  <a:srgbClr val="188038"/>
                </a:solidFill>
                <a:latin typeface="Roboto Mono"/>
                <a:ea typeface="Roboto Mono"/>
                <a:cs typeface="Roboto Mono"/>
                <a:sym typeface="Roboto Mono"/>
              </a:rPr>
              <a:t>random_state=42</a:t>
            </a:r>
            <a:r>
              <a:rPr lang="en-CA" sz="1400">
                <a:solidFill>
                  <a:srgbClr val="000000"/>
                </a:solidFill>
                <a:latin typeface="Arial"/>
                <a:ea typeface="Arial"/>
                <a:cs typeface="Arial"/>
                <a:sym typeface="Arial"/>
              </a:rPr>
              <a:t>)</a:t>
            </a:r>
            <a:endParaRPr/>
          </a:p>
        </p:txBody>
      </p:sp>
      <p:sp>
        <p:nvSpPr>
          <p:cNvPr id="151" name="Google Shape;151;p21"/>
          <p:cNvSpPr txBox="1"/>
          <p:nvPr>
            <p:ph idx="1" type="body"/>
          </p:nvPr>
        </p:nvSpPr>
        <p:spPr>
          <a:xfrm>
            <a:off x="4688700" y="1192950"/>
            <a:ext cx="4455300" cy="17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298450" lvl="0" marL="457200" rtl="0" algn="l">
              <a:spcBef>
                <a:spcPts val="1200"/>
              </a:spcBef>
              <a:spcAft>
                <a:spcPts val="0"/>
              </a:spcAft>
              <a:buSzPts val="1100"/>
              <a:buChar char="●"/>
            </a:pPr>
            <a:r>
              <a:rPr b="1" lang="en-CA" sz="1100">
                <a:solidFill>
                  <a:srgbClr val="000000"/>
                </a:solidFill>
                <a:latin typeface="Arial"/>
                <a:ea typeface="Arial"/>
                <a:cs typeface="Arial"/>
                <a:sym typeface="Arial"/>
              </a:rPr>
              <a:t>MLP_1HL_8</a:t>
            </a:r>
            <a:r>
              <a:rPr lang="en-CA" sz="1100">
                <a:solidFill>
                  <a:srgbClr val="000000"/>
                </a:solidFill>
                <a:latin typeface="Arial"/>
                <a:ea typeface="Arial"/>
                <a:cs typeface="Arial"/>
                <a:sym typeface="Arial"/>
              </a:rPr>
              <a:t>: (8) → ,</a:t>
            </a:r>
            <a:r>
              <a:rPr lang="en-CA" sz="1100">
                <a:solidFill>
                  <a:srgbClr val="188038"/>
                </a:solidFill>
                <a:latin typeface="Roboto Mono"/>
                <a:ea typeface="Roboto Mono"/>
                <a:cs typeface="Roboto Mono"/>
                <a:sym typeface="Roboto Mono"/>
              </a:rPr>
              <a:t>max_iter=5000</a:t>
            </a:r>
            <a:r>
              <a:rPr lang="en-CA" sz="1100">
                <a:solidFill>
                  <a:srgbClr val="000000"/>
                </a:solidFill>
                <a:latin typeface="Arial"/>
                <a:ea typeface="Arial"/>
                <a:cs typeface="Arial"/>
                <a:sym typeface="Arial"/>
              </a:rPr>
              <a:t>, </a:t>
            </a:r>
            <a:r>
              <a:rPr lang="en-CA" sz="1100">
                <a:solidFill>
                  <a:srgbClr val="188038"/>
                </a:solidFill>
                <a:latin typeface="Roboto Mono"/>
                <a:ea typeface="Roboto Mono"/>
                <a:cs typeface="Roboto Mono"/>
                <a:sym typeface="Roboto Mono"/>
              </a:rPr>
              <a:t>random_state=42</a:t>
            </a:r>
            <a:endParaRPr sz="1100">
              <a:solidFill>
                <a:srgbClr val="188038"/>
              </a:solidFill>
              <a:latin typeface="Roboto Mono"/>
              <a:ea typeface="Roboto Mono"/>
              <a:cs typeface="Roboto Mono"/>
              <a:sym typeface="Roboto Mono"/>
            </a:endParaRPr>
          </a:p>
          <a:p>
            <a:pPr indent="-298450" lvl="0" marL="457200" rtl="0" algn="l">
              <a:spcBef>
                <a:spcPts val="0"/>
              </a:spcBef>
              <a:spcAft>
                <a:spcPts val="0"/>
              </a:spcAft>
              <a:buClr>
                <a:srgbClr val="000000"/>
              </a:buClr>
              <a:buSzPts val="1100"/>
              <a:buFont typeface="Arial"/>
              <a:buChar char="●"/>
            </a:pPr>
            <a:r>
              <a:rPr b="1" lang="en-CA" sz="1100">
                <a:solidFill>
                  <a:srgbClr val="000000"/>
                </a:solidFill>
                <a:latin typeface="Arial"/>
                <a:ea typeface="Arial"/>
                <a:cs typeface="Arial"/>
                <a:sym typeface="Arial"/>
              </a:rPr>
              <a:t>MLP_1HL_4</a:t>
            </a:r>
            <a:r>
              <a:rPr lang="en-CA" sz="1100">
                <a:solidFill>
                  <a:srgbClr val="000000"/>
                </a:solidFill>
                <a:latin typeface="Arial"/>
                <a:ea typeface="Arial"/>
                <a:cs typeface="Arial"/>
                <a:sym typeface="Arial"/>
              </a:rPr>
              <a:t>: (4)</a:t>
            </a:r>
            <a:r>
              <a:rPr lang="en-CA" sz="1100">
                <a:solidFill>
                  <a:srgbClr val="000000"/>
                </a:solidFill>
                <a:latin typeface="Arial"/>
                <a:ea typeface="Arial"/>
                <a:cs typeface="Arial"/>
                <a:sym typeface="Arial"/>
              </a:rPr>
              <a:t>StandardScaler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CA" sz="1100">
                <a:solidFill>
                  <a:srgbClr val="000000"/>
                </a:solidFill>
                <a:latin typeface="Arial"/>
                <a:ea typeface="Arial"/>
                <a:cs typeface="Arial"/>
                <a:sym typeface="Arial"/>
              </a:rPr>
              <a:t>MLP_2HL_4_4</a:t>
            </a:r>
            <a:r>
              <a:rPr lang="en-CA" sz="1100">
                <a:solidFill>
                  <a:srgbClr val="000000"/>
                </a:solidFill>
                <a:latin typeface="Arial"/>
                <a:ea typeface="Arial"/>
                <a:cs typeface="Arial"/>
                <a:sym typeface="Arial"/>
              </a:rPr>
              <a:t>: (4,4)</a:t>
            </a:r>
            <a:r>
              <a:rPr lang="en-CA" sz="1100">
                <a:solidFill>
                  <a:srgbClr val="000000"/>
                </a:solidFill>
                <a:latin typeface="Arial"/>
                <a:ea typeface="Arial"/>
                <a:cs typeface="Arial"/>
                <a:sym typeface="Arial"/>
              </a:rPr>
              <a:t>StandardScaler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CA" sz="1100">
                <a:solidFill>
                  <a:srgbClr val="000000"/>
                </a:solidFill>
                <a:latin typeface="Arial"/>
                <a:ea typeface="Arial"/>
                <a:cs typeface="Arial"/>
                <a:sym typeface="Arial"/>
              </a:rPr>
              <a:t>MLP_2HL_8_4</a:t>
            </a:r>
            <a:r>
              <a:rPr lang="en-CA" sz="1100">
                <a:solidFill>
                  <a:srgbClr val="000000"/>
                </a:solidFill>
                <a:latin typeface="Arial"/>
                <a:ea typeface="Arial"/>
                <a:cs typeface="Arial"/>
                <a:sym typeface="Arial"/>
              </a:rPr>
              <a:t>: (8,4)</a:t>
            </a:r>
            <a:r>
              <a:rPr lang="en-CA" sz="1100">
                <a:solidFill>
                  <a:srgbClr val="000000"/>
                </a:solidFill>
                <a:latin typeface="Arial"/>
                <a:ea typeface="Arial"/>
                <a:cs typeface="Arial"/>
                <a:sym typeface="Arial"/>
              </a:rPr>
              <a:t>StandardScaler</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b="1" lang="en-CA" sz="1100">
                <a:solidFill>
                  <a:srgbClr val="000000"/>
                </a:solidFill>
                <a:latin typeface="Arial"/>
                <a:ea typeface="Arial"/>
                <a:cs typeface="Arial"/>
                <a:sym typeface="Arial"/>
              </a:rPr>
              <a:t>1 Hidden Layer means 8 neuron.</a:t>
            </a:r>
            <a:endParaRPr/>
          </a:p>
        </p:txBody>
      </p:sp>
      <p:pic>
        <p:nvPicPr>
          <p:cNvPr id="152" name="Google Shape;152;p21"/>
          <p:cNvPicPr preferRelativeResize="0"/>
          <p:nvPr/>
        </p:nvPicPr>
        <p:blipFill>
          <a:blip r:embed="rId3">
            <a:alphaModFix/>
          </a:blip>
          <a:stretch>
            <a:fillRect/>
          </a:stretch>
        </p:blipFill>
        <p:spPr>
          <a:xfrm>
            <a:off x="5074474" y="2985400"/>
            <a:ext cx="2821800" cy="1858826"/>
          </a:xfrm>
          <a:prstGeom prst="rect">
            <a:avLst/>
          </a:prstGeom>
          <a:noFill/>
          <a:ln>
            <a:noFill/>
          </a:ln>
        </p:spPr>
      </p:pic>
      <p:pic>
        <p:nvPicPr>
          <p:cNvPr id="153" name="Google Shape;153;p21"/>
          <p:cNvPicPr preferRelativeResize="0"/>
          <p:nvPr/>
        </p:nvPicPr>
        <p:blipFill>
          <a:blip r:embed="rId4">
            <a:alphaModFix/>
          </a:blip>
          <a:stretch>
            <a:fillRect/>
          </a:stretch>
        </p:blipFill>
        <p:spPr>
          <a:xfrm>
            <a:off x="437425" y="3240887"/>
            <a:ext cx="1604451" cy="1347850"/>
          </a:xfrm>
          <a:prstGeom prst="rect">
            <a:avLst/>
          </a:prstGeom>
          <a:noFill/>
          <a:ln>
            <a:noFill/>
          </a:ln>
        </p:spPr>
      </p:pic>
      <p:pic>
        <p:nvPicPr>
          <p:cNvPr id="154" name="Google Shape;154;p21"/>
          <p:cNvPicPr preferRelativeResize="0"/>
          <p:nvPr/>
        </p:nvPicPr>
        <p:blipFill>
          <a:blip r:embed="rId5">
            <a:alphaModFix/>
          </a:blip>
          <a:stretch>
            <a:fillRect/>
          </a:stretch>
        </p:blipFill>
        <p:spPr>
          <a:xfrm>
            <a:off x="2469200" y="3198125"/>
            <a:ext cx="2006725" cy="1433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592675" y="6569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sz="1700"/>
              <a:t>Modelling Results BTC Price, Fear &amp; Greed and News Dataset (709 Days)</a:t>
            </a:r>
            <a:endParaRPr sz="1700"/>
          </a:p>
          <a:p>
            <a:pPr indent="0" lvl="0" marL="0" rtl="0" algn="l">
              <a:spcBef>
                <a:spcPts val="0"/>
              </a:spcBef>
              <a:spcAft>
                <a:spcPts val="0"/>
              </a:spcAft>
              <a:buNone/>
            </a:pPr>
            <a:r>
              <a:t/>
            </a:r>
            <a:endParaRPr sz="1700"/>
          </a:p>
        </p:txBody>
      </p:sp>
      <p:sp>
        <p:nvSpPr>
          <p:cNvPr id="160" name="Google Shape;160;p22"/>
          <p:cNvSpPr txBox="1"/>
          <p:nvPr>
            <p:ph idx="1" type="body"/>
          </p:nvPr>
        </p:nvSpPr>
        <p:spPr>
          <a:xfrm>
            <a:off x="486800" y="1337875"/>
            <a:ext cx="3658800" cy="1334100"/>
          </a:xfrm>
          <a:prstGeom prst="rect">
            <a:avLst/>
          </a:prstGeom>
        </p:spPr>
        <p:txBody>
          <a:bodyPr anchorCtr="0" anchor="t" bIns="91425" lIns="91425" spcFirstLastPara="1" rIns="91425" wrap="square" tIns="91425">
            <a:normAutofit fontScale="70000" lnSpcReduction="10000"/>
          </a:bodyPr>
          <a:lstStyle/>
          <a:p>
            <a:pPr indent="0" lvl="0" marL="0" rtl="0" algn="l">
              <a:spcBef>
                <a:spcPts val="1200"/>
              </a:spcBef>
              <a:spcAft>
                <a:spcPts val="0"/>
              </a:spcAft>
              <a:buNone/>
            </a:pPr>
            <a:r>
              <a:rPr b="1" lang="en-CA" sz="1100">
                <a:solidFill>
                  <a:srgbClr val="000000"/>
                </a:solidFill>
                <a:latin typeface="Arial"/>
                <a:ea typeface="Arial"/>
                <a:cs typeface="Arial"/>
                <a:sym typeface="Arial"/>
              </a:rPr>
              <a:t>Best ML Results</a:t>
            </a:r>
            <a:endParaRPr b="1" sz="1100">
              <a:solidFill>
                <a:srgbClr val="000000"/>
              </a:solidFill>
              <a:latin typeface="Arial"/>
              <a:ea typeface="Arial"/>
              <a:cs typeface="Arial"/>
              <a:sym typeface="Arial"/>
            </a:endParaRPr>
          </a:p>
          <a:p>
            <a:pPr indent="-277495"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Price:</a:t>
            </a:r>
            <a:r>
              <a:rPr lang="en-CA" sz="1100">
                <a:solidFill>
                  <a:srgbClr val="000000"/>
                </a:solidFill>
                <a:latin typeface="Arial"/>
                <a:ea typeface="Arial"/>
                <a:cs typeface="Arial"/>
                <a:sym typeface="Arial"/>
              </a:rPr>
              <a:t> Best model = </a:t>
            </a:r>
            <a:r>
              <a:rPr b="1" lang="en-CA" sz="1100">
                <a:solidFill>
                  <a:srgbClr val="000000"/>
                </a:solidFill>
                <a:latin typeface="Arial"/>
                <a:ea typeface="Arial"/>
                <a:cs typeface="Arial"/>
                <a:sym typeface="Arial"/>
              </a:rPr>
              <a:t>Linear SVM</a:t>
            </a:r>
            <a:r>
              <a:rPr lang="en-CA" sz="1100">
                <a:solidFill>
                  <a:srgbClr val="000000"/>
                </a:solidFill>
                <a:latin typeface="Arial"/>
                <a:ea typeface="Arial"/>
                <a:cs typeface="Arial"/>
                <a:sym typeface="Arial"/>
              </a:rPr>
              <a:t> → </a:t>
            </a:r>
            <a:r>
              <a:rPr b="1" lang="en-CA" sz="1100">
                <a:solidFill>
                  <a:srgbClr val="000000"/>
                </a:solidFill>
                <a:latin typeface="Arial"/>
                <a:ea typeface="Arial"/>
                <a:cs typeface="Arial"/>
                <a:sym typeface="Arial"/>
              </a:rPr>
              <a:t>Accuracy = 0.500 ± 0.131</a:t>
            </a:r>
            <a:endParaRPr b="1"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Price + Fear:</a:t>
            </a:r>
            <a:r>
              <a:rPr lang="en-CA" sz="1100">
                <a:solidFill>
                  <a:srgbClr val="000000"/>
                </a:solidFill>
                <a:latin typeface="Arial"/>
                <a:ea typeface="Arial"/>
                <a:cs typeface="Arial"/>
                <a:sym typeface="Arial"/>
              </a:rPr>
              <a:t> Best model = </a:t>
            </a:r>
            <a:r>
              <a:rPr b="1" lang="en-CA" sz="1100">
                <a:solidFill>
                  <a:srgbClr val="000000"/>
                </a:solidFill>
                <a:latin typeface="Arial"/>
                <a:ea typeface="Arial"/>
                <a:cs typeface="Arial"/>
                <a:sym typeface="Arial"/>
              </a:rPr>
              <a:t>Linear SVM</a:t>
            </a:r>
            <a:r>
              <a:rPr lang="en-CA" sz="1100">
                <a:solidFill>
                  <a:srgbClr val="000000"/>
                </a:solidFill>
                <a:latin typeface="Arial"/>
                <a:ea typeface="Arial"/>
                <a:cs typeface="Arial"/>
                <a:sym typeface="Arial"/>
              </a:rPr>
              <a:t> → </a:t>
            </a:r>
            <a:r>
              <a:rPr b="1" lang="en-CA" sz="1100">
                <a:solidFill>
                  <a:srgbClr val="000000"/>
                </a:solidFill>
                <a:latin typeface="Arial"/>
                <a:ea typeface="Arial"/>
                <a:cs typeface="Arial"/>
                <a:sym typeface="Arial"/>
              </a:rPr>
              <a:t>Accuracy = 0.500 ± 0.142</a:t>
            </a:r>
            <a:endParaRPr b="1"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Price + News:</a:t>
            </a:r>
            <a:r>
              <a:rPr lang="en-CA" sz="1100">
                <a:solidFill>
                  <a:srgbClr val="000000"/>
                </a:solidFill>
                <a:latin typeface="Arial"/>
                <a:ea typeface="Arial"/>
                <a:cs typeface="Arial"/>
                <a:sym typeface="Arial"/>
              </a:rPr>
              <a:t> Best model = </a:t>
            </a:r>
            <a:r>
              <a:rPr b="1" lang="en-CA" sz="1100">
                <a:solidFill>
                  <a:srgbClr val="000000"/>
                </a:solidFill>
                <a:latin typeface="Arial"/>
                <a:ea typeface="Arial"/>
                <a:cs typeface="Arial"/>
                <a:sym typeface="Arial"/>
              </a:rPr>
              <a:t>Linear SVM</a:t>
            </a:r>
            <a:r>
              <a:rPr lang="en-CA" sz="1100">
                <a:solidFill>
                  <a:srgbClr val="000000"/>
                </a:solidFill>
                <a:latin typeface="Arial"/>
                <a:ea typeface="Arial"/>
                <a:cs typeface="Arial"/>
                <a:sym typeface="Arial"/>
              </a:rPr>
              <a:t> → </a:t>
            </a:r>
            <a:r>
              <a:rPr b="1" lang="en-CA" sz="1100">
                <a:solidFill>
                  <a:srgbClr val="000000"/>
                </a:solidFill>
                <a:latin typeface="Arial"/>
                <a:ea typeface="Arial"/>
                <a:cs typeface="Arial"/>
                <a:sym typeface="Arial"/>
              </a:rPr>
              <a:t>Accuracy = 0.493 ± 0.130</a:t>
            </a:r>
            <a:endParaRPr b="1"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Price + Fear + News:</a:t>
            </a:r>
            <a:r>
              <a:rPr lang="en-CA" sz="1100">
                <a:solidFill>
                  <a:srgbClr val="000000"/>
                </a:solidFill>
                <a:latin typeface="Arial"/>
                <a:ea typeface="Arial"/>
                <a:cs typeface="Arial"/>
                <a:sym typeface="Arial"/>
              </a:rPr>
              <a:t> Best model = </a:t>
            </a:r>
            <a:r>
              <a:rPr b="1" lang="en-CA" sz="1100">
                <a:solidFill>
                  <a:srgbClr val="000000"/>
                </a:solidFill>
                <a:latin typeface="Arial"/>
                <a:ea typeface="Arial"/>
                <a:cs typeface="Arial"/>
                <a:sym typeface="Arial"/>
              </a:rPr>
              <a:t>Linear SVM</a:t>
            </a:r>
            <a:r>
              <a:rPr lang="en-CA" sz="1100">
                <a:solidFill>
                  <a:srgbClr val="000000"/>
                </a:solidFill>
                <a:latin typeface="Arial"/>
                <a:ea typeface="Arial"/>
                <a:cs typeface="Arial"/>
                <a:sym typeface="Arial"/>
              </a:rPr>
              <a:t> → </a:t>
            </a:r>
            <a:r>
              <a:rPr b="1" lang="en-CA" sz="1100">
                <a:solidFill>
                  <a:srgbClr val="000000"/>
                </a:solidFill>
                <a:latin typeface="Arial"/>
                <a:ea typeface="Arial"/>
                <a:cs typeface="Arial"/>
                <a:sym typeface="Arial"/>
              </a:rPr>
              <a:t>Accuracy = 0.474 ± 0.141</a:t>
            </a:r>
            <a:endParaRPr b="1">
              <a:solidFill>
                <a:srgbClr val="000000"/>
              </a:solidFill>
              <a:latin typeface="Arial"/>
              <a:ea typeface="Arial"/>
              <a:cs typeface="Arial"/>
              <a:sym typeface="Arial"/>
            </a:endParaRPr>
          </a:p>
        </p:txBody>
      </p:sp>
      <p:pic>
        <p:nvPicPr>
          <p:cNvPr id="161" name="Google Shape;161;p22"/>
          <p:cNvPicPr preferRelativeResize="0"/>
          <p:nvPr/>
        </p:nvPicPr>
        <p:blipFill>
          <a:blip r:embed="rId3">
            <a:alphaModFix/>
          </a:blip>
          <a:stretch>
            <a:fillRect/>
          </a:stretch>
        </p:blipFill>
        <p:spPr>
          <a:xfrm>
            <a:off x="899300" y="2933841"/>
            <a:ext cx="2413350" cy="1938959"/>
          </a:xfrm>
          <a:prstGeom prst="rect">
            <a:avLst/>
          </a:prstGeom>
          <a:noFill/>
          <a:ln>
            <a:noFill/>
          </a:ln>
        </p:spPr>
      </p:pic>
      <p:pic>
        <p:nvPicPr>
          <p:cNvPr id="162" name="Google Shape;162;p22"/>
          <p:cNvPicPr preferRelativeResize="0"/>
          <p:nvPr/>
        </p:nvPicPr>
        <p:blipFill>
          <a:blip r:embed="rId4">
            <a:alphaModFix/>
          </a:blip>
          <a:stretch>
            <a:fillRect/>
          </a:stretch>
        </p:blipFill>
        <p:spPr>
          <a:xfrm>
            <a:off x="5595259" y="2813463"/>
            <a:ext cx="2301691" cy="1863275"/>
          </a:xfrm>
          <a:prstGeom prst="rect">
            <a:avLst/>
          </a:prstGeom>
          <a:noFill/>
          <a:ln>
            <a:noFill/>
          </a:ln>
        </p:spPr>
      </p:pic>
      <p:sp>
        <p:nvSpPr>
          <p:cNvPr id="163" name="Google Shape;163;p22"/>
          <p:cNvSpPr txBox="1"/>
          <p:nvPr>
            <p:ph idx="1" type="body"/>
          </p:nvPr>
        </p:nvSpPr>
        <p:spPr>
          <a:xfrm>
            <a:off x="4276450" y="1327900"/>
            <a:ext cx="4396800" cy="1778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CA" sz="750">
                <a:solidFill>
                  <a:srgbClr val="000000"/>
                </a:solidFill>
                <a:latin typeface="Arial"/>
                <a:ea typeface="Arial"/>
                <a:cs typeface="Arial"/>
                <a:sym typeface="Arial"/>
              </a:rPr>
              <a:t>Best MLP Results</a:t>
            </a:r>
            <a:endParaRPr b="1" sz="750">
              <a:solidFill>
                <a:srgbClr val="000000"/>
              </a:solidFill>
              <a:latin typeface="Arial"/>
              <a:ea typeface="Arial"/>
              <a:cs typeface="Arial"/>
              <a:sym typeface="Arial"/>
            </a:endParaRPr>
          </a:p>
          <a:p>
            <a:pPr indent="-276225" lvl="0" marL="457200" rtl="0" algn="l">
              <a:spcBef>
                <a:spcPts val="1200"/>
              </a:spcBef>
              <a:spcAft>
                <a:spcPts val="0"/>
              </a:spcAft>
              <a:buClr>
                <a:srgbClr val="000000"/>
              </a:buClr>
              <a:buSzPts val="750"/>
              <a:buFont typeface="Arial"/>
              <a:buChar char="●"/>
            </a:pPr>
            <a:r>
              <a:rPr b="1" lang="en-CA" sz="750">
                <a:solidFill>
                  <a:srgbClr val="000000"/>
                </a:solidFill>
                <a:latin typeface="Arial"/>
                <a:ea typeface="Arial"/>
                <a:cs typeface="Arial"/>
                <a:sym typeface="Arial"/>
              </a:rPr>
              <a:t>Price:</a:t>
            </a:r>
            <a:r>
              <a:rPr lang="en-CA" sz="750">
                <a:solidFill>
                  <a:srgbClr val="000000"/>
                </a:solidFill>
                <a:latin typeface="Arial"/>
                <a:ea typeface="Arial"/>
                <a:cs typeface="Arial"/>
                <a:sym typeface="Arial"/>
              </a:rPr>
              <a:t> Best MLP = </a:t>
            </a:r>
            <a:r>
              <a:rPr b="1" lang="en-CA" sz="750">
                <a:solidFill>
                  <a:srgbClr val="000000"/>
                </a:solidFill>
                <a:latin typeface="Arial"/>
                <a:ea typeface="Arial"/>
                <a:cs typeface="Arial"/>
                <a:sym typeface="Arial"/>
              </a:rPr>
              <a:t>MLP (1HL, 8)</a:t>
            </a:r>
            <a:r>
              <a:rPr lang="en-CA" sz="750">
                <a:solidFill>
                  <a:srgbClr val="000000"/>
                </a:solidFill>
                <a:latin typeface="Arial"/>
                <a:ea typeface="Arial"/>
                <a:cs typeface="Arial"/>
                <a:sym typeface="Arial"/>
              </a:rPr>
              <a:t> → </a:t>
            </a:r>
            <a:r>
              <a:rPr b="1" lang="en-CA" sz="750">
                <a:solidFill>
                  <a:srgbClr val="000000"/>
                </a:solidFill>
                <a:latin typeface="Arial"/>
                <a:ea typeface="Arial"/>
                <a:cs typeface="Arial"/>
                <a:sym typeface="Arial"/>
              </a:rPr>
              <a:t>Accuracy = 0.456 ± 0.111</a:t>
            </a:r>
            <a:endParaRPr b="1" sz="750">
              <a:solidFill>
                <a:srgbClr val="000000"/>
              </a:solidFill>
              <a:latin typeface="Arial"/>
              <a:ea typeface="Arial"/>
              <a:cs typeface="Arial"/>
              <a:sym typeface="Arial"/>
            </a:endParaRPr>
          </a:p>
          <a:p>
            <a:pPr indent="-276225" lvl="0" marL="457200" rtl="0" algn="l">
              <a:spcBef>
                <a:spcPts val="0"/>
              </a:spcBef>
              <a:spcAft>
                <a:spcPts val="0"/>
              </a:spcAft>
              <a:buClr>
                <a:srgbClr val="000000"/>
              </a:buClr>
              <a:buSzPts val="750"/>
              <a:buFont typeface="Arial"/>
              <a:buChar char="●"/>
            </a:pPr>
            <a:r>
              <a:rPr b="1" lang="en-CA" sz="750">
                <a:solidFill>
                  <a:srgbClr val="000000"/>
                </a:solidFill>
                <a:latin typeface="Arial"/>
                <a:ea typeface="Arial"/>
                <a:cs typeface="Arial"/>
                <a:sym typeface="Arial"/>
              </a:rPr>
              <a:t>Price + Fear:</a:t>
            </a:r>
            <a:r>
              <a:rPr lang="en-CA" sz="750">
                <a:solidFill>
                  <a:srgbClr val="000000"/>
                </a:solidFill>
                <a:latin typeface="Arial"/>
                <a:ea typeface="Arial"/>
                <a:cs typeface="Arial"/>
                <a:sym typeface="Arial"/>
              </a:rPr>
              <a:t> Best MLP = </a:t>
            </a:r>
            <a:r>
              <a:rPr b="1" lang="en-CA" sz="750">
                <a:solidFill>
                  <a:srgbClr val="000000"/>
                </a:solidFill>
                <a:latin typeface="Arial"/>
                <a:ea typeface="Arial"/>
                <a:cs typeface="Arial"/>
                <a:sym typeface="Arial"/>
              </a:rPr>
              <a:t>MLP (2HL, 8, 4)</a:t>
            </a:r>
            <a:r>
              <a:rPr lang="en-CA" sz="750">
                <a:solidFill>
                  <a:srgbClr val="000000"/>
                </a:solidFill>
                <a:latin typeface="Arial"/>
                <a:ea typeface="Arial"/>
                <a:cs typeface="Arial"/>
                <a:sym typeface="Arial"/>
              </a:rPr>
              <a:t> → </a:t>
            </a:r>
            <a:r>
              <a:rPr b="1" lang="en-CA" sz="750">
                <a:solidFill>
                  <a:srgbClr val="000000"/>
                </a:solidFill>
                <a:latin typeface="Arial"/>
                <a:ea typeface="Arial"/>
                <a:cs typeface="Arial"/>
                <a:sym typeface="Arial"/>
              </a:rPr>
              <a:t>Accuracy = 0.485 ± 0.145</a:t>
            </a:r>
            <a:endParaRPr b="1" sz="750">
              <a:solidFill>
                <a:srgbClr val="000000"/>
              </a:solidFill>
              <a:latin typeface="Arial"/>
              <a:ea typeface="Arial"/>
              <a:cs typeface="Arial"/>
              <a:sym typeface="Arial"/>
            </a:endParaRPr>
          </a:p>
          <a:p>
            <a:pPr indent="-276225" lvl="0" marL="457200" rtl="0" algn="l">
              <a:spcBef>
                <a:spcPts val="0"/>
              </a:spcBef>
              <a:spcAft>
                <a:spcPts val="0"/>
              </a:spcAft>
              <a:buClr>
                <a:srgbClr val="000000"/>
              </a:buClr>
              <a:buSzPts val="750"/>
              <a:buFont typeface="Arial"/>
              <a:buChar char="●"/>
            </a:pPr>
            <a:r>
              <a:rPr b="1" lang="en-CA" sz="750">
                <a:solidFill>
                  <a:srgbClr val="000000"/>
                </a:solidFill>
                <a:latin typeface="Arial"/>
                <a:ea typeface="Arial"/>
                <a:cs typeface="Arial"/>
                <a:sym typeface="Arial"/>
              </a:rPr>
              <a:t>Price + News:</a:t>
            </a:r>
            <a:r>
              <a:rPr lang="en-CA" sz="750">
                <a:solidFill>
                  <a:srgbClr val="000000"/>
                </a:solidFill>
                <a:latin typeface="Arial"/>
                <a:ea typeface="Arial"/>
                <a:cs typeface="Arial"/>
                <a:sym typeface="Arial"/>
              </a:rPr>
              <a:t> Best MLP = </a:t>
            </a:r>
            <a:r>
              <a:rPr b="1" lang="en-CA" sz="750">
                <a:solidFill>
                  <a:srgbClr val="000000"/>
                </a:solidFill>
                <a:latin typeface="Arial"/>
                <a:ea typeface="Arial"/>
                <a:cs typeface="Arial"/>
                <a:sym typeface="Arial"/>
              </a:rPr>
              <a:t>MLP (2HL, 4, 4)</a:t>
            </a:r>
            <a:r>
              <a:rPr lang="en-CA" sz="750">
                <a:solidFill>
                  <a:srgbClr val="000000"/>
                </a:solidFill>
                <a:latin typeface="Arial"/>
                <a:ea typeface="Arial"/>
                <a:cs typeface="Arial"/>
                <a:sym typeface="Arial"/>
              </a:rPr>
              <a:t> → </a:t>
            </a:r>
            <a:r>
              <a:rPr b="1" lang="en-CA" sz="750">
                <a:solidFill>
                  <a:srgbClr val="000000"/>
                </a:solidFill>
                <a:latin typeface="Arial"/>
                <a:ea typeface="Arial"/>
                <a:cs typeface="Arial"/>
                <a:sym typeface="Arial"/>
              </a:rPr>
              <a:t>Accuracy = 0.456 ± 0.094</a:t>
            </a:r>
            <a:endParaRPr b="1" sz="750">
              <a:solidFill>
                <a:srgbClr val="000000"/>
              </a:solidFill>
              <a:latin typeface="Arial"/>
              <a:ea typeface="Arial"/>
              <a:cs typeface="Arial"/>
              <a:sym typeface="Arial"/>
            </a:endParaRPr>
          </a:p>
          <a:p>
            <a:pPr indent="-276225" lvl="0" marL="457200" rtl="0" algn="l">
              <a:spcBef>
                <a:spcPts val="0"/>
              </a:spcBef>
              <a:spcAft>
                <a:spcPts val="0"/>
              </a:spcAft>
              <a:buClr>
                <a:srgbClr val="000000"/>
              </a:buClr>
              <a:buSzPts val="750"/>
              <a:buFont typeface="Arial"/>
              <a:buChar char="●"/>
            </a:pPr>
            <a:r>
              <a:rPr b="1" lang="en-CA" sz="750">
                <a:solidFill>
                  <a:srgbClr val="000000"/>
                </a:solidFill>
                <a:latin typeface="Arial"/>
                <a:ea typeface="Arial"/>
                <a:cs typeface="Arial"/>
                <a:sym typeface="Arial"/>
              </a:rPr>
              <a:t>Price + Fear + News:</a:t>
            </a:r>
            <a:r>
              <a:rPr lang="en-CA" sz="750">
                <a:solidFill>
                  <a:srgbClr val="000000"/>
                </a:solidFill>
                <a:latin typeface="Arial"/>
                <a:ea typeface="Arial"/>
                <a:cs typeface="Arial"/>
                <a:sym typeface="Arial"/>
              </a:rPr>
              <a:t> Best MLP = </a:t>
            </a:r>
            <a:r>
              <a:rPr b="1" lang="en-CA" sz="750">
                <a:solidFill>
                  <a:srgbClr val="000000"/>
                </a:solidFill>
                <a:latin typeface="Arial"/>
                <a:ea typeface="Arial"/>
                <a:cs typeface="Arial"/>
                <a:sym typeface="Arial"/>
              </a:rPr>
              <a:t>MLP (2HL, 4, 4)</a:t>
            </a:r>
            <a:r>
              <a:rPr lang="en-CA" sz="750">
                <a:solidFill>
                  <a:srgbClr val="000000"/>
                </a:solidFill>
                <a:latin typeface="Arial"/>
                <a:ea typeface="Arial"/>
                <a:cs typeface="Arial"/>
                <a:sym typeface="Arial"/>
              </a:rPr>
              <a:t> → </a:t>
            </a:r>
            <a:r>
              <a:rPr b="1" lang="en-CA" sz="750">
                <a:solidFill>
                  <a:srgbClr val="000000"/>
                </a:solidFill>
                <a:latin typeface="Arial"/>
                <a:ea typeface="Arial"/>
                <a:cs typeface="Arial"/>
                <a:sym typeface="Arial"/>
              </a:rPr>
              <a:t>Accuracy = 0.463 ± 0.145</a:t>
            </a:r>
            <a:endParaRPr b="1" sz="75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ph type="title"/>
          </p:nvPr>
        </p:nvSpPr>
        <p:spPr>
          <a:xfrm>
            <a:off x="575825" y="676275"/>
            <a:ext cx="8328300" cy="70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040"/>
              <a:t>Modelling Results BTC Price, Tweets and News Dataset (167 day</a:t>
            </a:r>
            <a:endParaRPr sz="2040"/>
          </a:p>
          <a:p>
            <a:pPr indent="0" lvl="0" marL="0" rtl="0" algn="l">
              <a:spcBef>
                <a:spcPts val="0"/>
              </a:spcBef>
              <a:spcAft>
                <a:spcPts val="0"/>
              </a:spcAft>
              <a:buSzPts val="990"/>
              <a:buNone/>
            </a:pPr>
            <a:r>
              <a:t/>
            </a:r>
            <a:endParaRPr sz="2340"/>
          </a:p>
        </p:txBody>
      </p:sp>
      <p:sp>
        <p:nvSpPr>
          <p:cNvPr id="169" name="Google Shape;169;p23"/>
          <p:cNvSpPr txBox="1"/>
          <p:nvPr>
            <p:ph idx="1" type="body"/>
          </p:nvPr>
        </p:nvSpPr>
        <p:spPr>
          <a:xfrm>
            <a:off x="59275" y="1292775"/>
            <a:ext cx="4084800" cy="1674000"/>
          </a:xfrm>
          <a:prstGeom prst="rect">
            <a:avLst/>
          </a:prstGeom>
        </p:spPr>
        <p:txBody>
          <a:bodyPr anchorCtr="0" anchor="t" bIns="91425" lIns="91425" spcFirstLastPara="1" rIns="91425" wrap="square" tIns="91425">
            <a:normAutofit fontScale="77500"/>
          </a:bodyPr>
          <a:lstStyle/>
          <a:p>
            <a:pPr indent="0" lvl="0" marL="0" rtl="0" algn="l">
              <a:spcBef>
                <a:spcPts val="1400"/>
              </a:spcBef>
              <a:spcAft>
                <a:spcPts val="0"/>
              </a:spcAft>
              <a:buNone/>
            </a:pPr>
            <a:r>
              <a:rPr b="1" lang="en-CA">
                <a:solidFill>
                  <a:srgbClr val="000000"/>
                </a:solidFill>
                <a:latin typeface="Arial"/>
                <a:ea typeface="Arial"/>
                <a:cs typeface="Arial"/>
                <a:sym typeface="Arial"/>
              </a:rPr>
              <a:t>Best ML Results </a:t>
            </a:r>
            <a:endParaRPr b="1">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Price only:</a:t>
            </a:r>
            <a:r>
              <a:rPr lang="en-CA" sz="1100">
                <a:solidFill>
                  <a:srgbClr val="000000"/>
                </a:solidFill>
                <a:latin typeface="Arial"/>
                <a:ea typeface="Arial"/>
                <a:cs typeface="Arial"/>
                <a:sym typeface="Arial"/>
              </a:rPr>
              <a:t> Best model = </a:t>
            </a:r>
            <a:r>
              <a:rPr b="1" lang="en-CA" sz="1100">
                <a:solidFill>
                  <a:srgbClr val="000000"/>
                </a:solidFill>
                <a:latin typeface="Arial"/>
                <a:ea typeface="Arial"/>
                <a:cs typeface="Arial"/>
                <a:sym typeface="Arial"/>
              </a:rPr>
              <a:t>Linear SVM, Accuracy = 0.378 ± 0.077</a:t>
            </a:r>
            <a:endParaRPr b="1"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Price + News:</a:t>
            </a:r>
            <a:r>
              <a:rPr lang="en-CA" sz="1100">
                <a:solidFill>
                  <a:srgbClr val="000000"/>
                </a:solidFill>
                <a:latin typeface="Arial"/>
                <a:ea typeface="Arial"/>
                <a:cs typeface="Arial"/>
                <a:sym typeface="Arial"/>
              </a:rPr>
              <a:t> Best model = </a:t>
            </a:r>
            <a:r>
              <a:rPr b="1" lang="en-CA" sz="1100">
                <a:solidFill>
                  <a:srgbClr val="000000"/>
                </a:solidFill>
                <a:latin typeface="Arial"/>
                <a:ea typeface="Arial"/>
                <a:cs typeface="Arial"/>
                <a:sym typeface="Arial"/>
              </a:rPr>
              <a:t>Linear SVM, Accuracy = 0.378 ± 0.039</a:t>
            </a:r>
            <a:endParaRPr b="1"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Price + Twitter:</a:t>
            </a:r>
            <a:r>
              <a:rPr lang="en-CA" sz="1100">
                <a:solidFill>
                  <a:srgbClr val="000000"/>
                </a:solidFill>
                <a:latin typeface="Arial"/>
                <a:ea typeface="Arial"/>
                <a:cs typeface="Arial"/>
                <a:sym typeface="Arial"/>
              </a:rPr>
              <a:t> Best model = </a:t>
            </a:r>
            <a:r>
              <a:rPr b="1" lang="en-CA" sz="1100">
                <a:solidFill>
                  <a:srgbClr val="000000"/>
                </a:solidFill>
                <a:latin typeface="Arial"/>
                <a:ea typeface="Arial"/>
                <a:cs typeface="Arial"/>
                <a:sym typeface="Arial"/>
              </a:rPr>
              <a:t>Linear SVM, Accuracy = 0.356 ± 0.039</a:t>
            </a:r>
            <a:endParaRPr b="1"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Price + Twitter + News:</a:t>
            </a:r>
            <a:r>
              <a:rPr lang="en-CA" sz="1100">
                <a:solidFill>
                  <a:srgbClr val="000000"/>
                </a:solidFill>
                <a:latin typeface="Arial"/>
                <a:ea typeface="Arial"/>
                <a:cs typeface="Arial"/>
                <a:sym typeface="Arial"/>
              </a:rPr>
              <a:t> Best model = </a:t>
            </a:r>
            <a:r>
              <a:rPr b="1" lang="en-CA" sz="1100">
                <a:solidFill>
                  <a:srgbClr val="000000"/>
                </a:solidFill>
                <a:latin typeface="Arial"/>
                <a:ea typeface="Arial"/>
                <a:cs typeface="Arial"/>
                <a:sym typeface="Arial"/>
              </a:rPr>
              <a:t>Logistic Regression, Accuracy = 0.356 ± 0.039</a:t>
            </a:r>
            <a:endParaRPr b="1"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70" name="Google Shape;170;p23"/>
          <p:cNvSpPr txBox="1"/>
          <p:nvPr>
            <p:ph idx="1" type="body"/>
          </p:nvPr>
        </p:nvSpPr>
        <p:spPr>
          <a:xfrm>
            <a:off x="4139625" y="1292775"/>
            <a:ext cx="4853700" cy="19299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CA" sz="850">
                <a:solidFill>
                  <a:srgbClr val="000000"/>
                </a:solidFill>
                <a:latin typeface="Arial"/>
                <a:ea typeface="Arial"/>
                <a:cs typeface="Arial"/>
                <a:sym typeface="Arial"/>
              </a:rPr>
              <a:t>Best MLP Results </a:t>
            </a:r>
            <a:endParaRPr b="1" sz="850">
              <a:solidFill>
                <a:srgbClr val="000000"/>
              </a:solidFill>
              <a:latin typeface="Arial"/>
              <a:ea typeface="Arial"/>
              <a:cs typeface="Arial"/>
              <a:sym typeface="Arial"/>
            </a:endParaRPr>
          </a:p>
          <a:p>
            <a:pPr indent="-282575" lvl="0" marL="457200" rtl="0" algn="l">
              <a:spcBef>
                <a:spcPts val="1200"/>
              </a:spcBef>
              <a:spcAft>
                <a:spcPts val="0"/>
              </a:spcAft>
              <a:buClr>
                <a:srgbClr val="000000"/>
              </a:buClr>
              <a:buSzPts val="850"/>
              <a:buFont typeface="Arial"/>
              <a:buChar char="●"/>
            </a:pPr>
            <a:r>
              <a:rPr b="1" lang="en-CA" sz="850">
                <a:solidFill>
                  <a:srgbClr val="000000"/>
                </a:solidFill>
                <a:latin typeface="Arial"/>
                <a:ea typeface="Arial"/>
                <a:cs typeface="Arial"/>
                <a:sym typeface="Arial"/>
              </a:rPr>
              <a:t>Price only:</a:t>
            </a:r>
            <a:r>
              <a:rPr lang="en-CA" sz="850">
                <a:solidFill>
                  <a:srgbClr val="000000"/>
                </a:solidFill>
                <a:latin typeface="Arial"/>
                <a:ea typeface="Arial"/>
                <a:cs typeface="Arial"/>
                <a:sym typeface="Arial"/>
              </a:rPr>
              <a:t> Best model = </a:t>
            </a:r>
            <a:r>
              <a:rPr b="1" lang="en-CA" sz="850">
                <a:solidFill>
                  <a:srgbClr val="000000"/>
                </a:solidFill>
                <a:latin typeface="Arial"/>
                <a:ea typeface="Arial"/>
                <a:cs typeface="Arial"/>
                <a:sym typeface="Arial"/>
              </a:rPr>
              <a:t>MLP (1 hidden layer, 4 units), Accuracy = 0.356 ± 0.102</a:t>
            </a:r>
            <a:endParaRPr b="1" sz="850">
              <a:solidFill>
                <a:srgbClr val="000000"/>
              </a:solidFill>
              <a:latin typeface="Arial"/>
              <a:ea typeface="Arial"/>
              <a:cs typeface="Arial"/>
              <a:sym typeface="Arial"/>
            </a:endParaRPr>
          </a:p>
          <a:p>
            <a:pPr indent="-282575" lvl="0" marL="457200" rtl="0" algn="l">
              <a:spcBef>
                <a:spcPts val="0"/>
              </a:spcBef>
              <a:spcAft>
                <a:spcPts val="0"/>
              </a:spcAft>
              <a:buClr>
                <a:srgbClr val="000000"/>
              </a:buClr>
              <a:buSzPts val="850"/>
              <a:buFont typeface="Arial"/>
              <a:buChar char="●"/>
            </a:pPr>
            <a:r>
              <a:rPr b="1" lang="en-CA" sz="850">
                <a:solidFill>
                  <a:srgbClr val="000000"/>
                </a:solidFill>
                <a:latin typeface="Arial"/>
                <a:ea typeface="Arial"/>
                <a:cs typeface="Arial"/>
                <a:sym typeface="Arial"/>
              </a:rPr>
              <a:t>Price + News:</a:t>
            </a:r>
            <a:r>
              <a:rPr lang="en-CA" sz="850">
                <a:solidFill>
                  <a:srgbClr val="000000"/>
                </a:solidFill>
                <a:latin typeface="Arial"/>
                <a:ea typeface="Arial"/>
                <a:cs typeface="Arial"/>
                <a:sym typeface="Arial"/>
              </a:rPr>
              <a:t> Best model = </a:t>
            </a:r>
            <a:r>
              <a:rPr b="1" lang="en-CA" sz="850">
                <a:solidFill>
                  <a:srgbClr val="000000"/>
                </a:solidFill>
                <a:latin typeface="Arial"/>
                <a:ea typeface="Arial"/>
                <a:cs typeface="Arial"/>
                <a:sym typeface="Arial"/>
              </a:rPr>
              <a:t>MLP (2 hidden layers, 8 and 4 units), Accuracy = 0.333 ± 0.067</a:t>
            </a:r>
            <a:endParaRPr b="1" sz="850">
              <a:solidFill>
                <a:srgbClr val="000000"/>
              </a:solidFill>
              <a:latin typeface="Arial"/>
              <a:ea typeface="Arial"/>
              <a:cs typeface="Arial"/>
              <a:sym typeface="Arial"/>
            </a:endParaRPr>
          </a:p>
          <a:p>
            <a:pPr indent="-282575" lvl="0" marL="457200" rtl="0" algn="l">
              <a:spcBef>
                <a:spcPts val="0"/>
              </a:spcBef>
              <a:spcAft>
                <a:spcPts val="0"/>
              </a:spcAft>
              <a:buClr>
                <a:srgbClr val="000000"/>
              </a:buClr>
              <a:buSzPts val="850"/>
              <a:buFont typeface="Arial"/>
              <a:buChar char="●"/>
            </a:pPr>
            <a:r>
              <a:rPr b="1" lang="en-CA" sz="850">
                <a:solidFill>
                  <a:srgbClr val="000000"/>
                </a:solidFill>
                <a:latin typeface="Arial"/>
                <a:ea typeface="Arial"/>
                <a:cs typeface="Arial"/>
                <a:sym typeface="Arial"/>
              </a:rPr>
              <a:t>Price + Twitter:</a:t>
            </a:r>
            <a:r>
              <a:rPr lang="en-CA" sz="850">
                <a:solidFill>
                  <a:srgbClr val="000000"/>
                </a:solidFill>
                <a:latin typeface="Arial"/>
                <a:ea typeface="Arial"/>
                <a:cs typeface="Arial"/>
                <a:sym typeface="Arial"/>
              </a:rPr>
              <a:t> Best model = </a:t>
            </a:r>
            <a:r>
              <a:rPr b="1" lang="en-CA" sz="850">
                <a:solidFill>
                  <a:srgbClr val="000000"/>
                </a:solidFill>
                <a:latin typeface="Arial"/>
                <a:ea typeface="Arial"/>
                <a:cs typeface="Arial"/>
                <a:sym typeface="Arial"/>
              </a:rPr>
              <a:t>MLP (2 hidden layers, 8 and 4 units), Accuracy = 0.311 ± 0.204</a:t>
            </a:r>
            <a:endParaRPr b="1" sz="850">
              <a:solidFill>
                <a:srgbClr val="000000"/>
              </a:solidFill>
              <a:latin typeface="Arial"/>
              <a:ea typeface="Arial"/>
              <a:cs typeface="Arial"/>
              <a:sym typeface="Arial"/>
            </a:endParaRPr>
          </a:p>
          <a:p>
            <a:pPr indent="-282575" lvl="0" marL="457200" rtl="0" algn="l">
              <a:spcBef>
                <a:spcPts val="0"/>
              </a:spcBef>
              <a:spcAft>
                <a:spcPts val="0"/>
              </a:spcAft>
              <a:buClr>
                <a:srgbClr val="000000"/>
              </a:buClr>
              <a:buSzPts val="850"/>
              <a:buFont typeface="Arial"/>
              <a:buChar char="●"/>
            </a:pPr>
            <a:r>
              <a:rPr b="1" lang="en-CA" sz="850">
                <a:solidFill>
                  <a:srgbClr val="000000"/>
                </a:solidFill>
                <a:latin typeface="Arial"/>
                <a:ea typeface="Arial"/>
                <a:cs typeface="Arial"/>
                <a:sym typeface="Arial"/>
              </a:rPr>
              <a:t>Price + Twitter + News:</a:t>
            </a:r>
            <a:r>
              <a:rPr lang="en-CA" sz="850">
                <a:solidFill>
                  <a:srgbClr val="000000"/>
                </a:solidFill>
                <a:latin typeface="Arial"/>
                <a:ea typeface="Arial"/>
                <a:cs typeface="Arial"/>
                <a:sym typeface="Arial"/>
              </a:rPr>
              <a:t> Best model = </a:t>
            </a:r>
            <a:r>
              <a:rPr b="1" lang="en-CA" sz="850">
                <a:solidFill>
                  <a:srgbClr val="000000"/>
                </a:solidFill>
                <a:latin typeface="Arial"/>
                <a:ea typeface="Arial"/>
                <a:cs typeface="Arial"/>
                <a:sym typeface="Arial"/>
              </a:rPr>
              <a:t>MLP (1 hidden layer, 4 units), Accuracy = 0.444 ± 0.03</a:t>
            </a:r>
            <a:r>
              <a:rPr b="1" lang="en-CA" sz="850">
                <a:solidFill>
                  <a:srgbClr val="000000"/>
                </a:solidFill>
                <a:latin typeface="Arial"/>
                <a:ea typeface="Arial"/>
                <a:cs typeface="Arial"/>
                <a:sym typeface="Arial"/>
              </a:rPr>
              <a:t>9</a:t>
            </a:r>
            <a:endParaRPr b="1" sz="85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171" name="Google Shape;171;p23"/>
          <p:cNvPicPr preferRelativeResize="0"/>
          <p:nvPr/>
        </p:nvPicPr>
        <p:blipFill>
          <a:blip r:embed="rId3">
            <a:alphaModFix/>
          </a:blip>
          <a:stretch>
            <a:fillRect/>
          </a:stretch>
        </p:blipFill>
        <p:spPr>
          <a:xfrm>
            <a:off x="144100" y="2803050"/>
            <a:ext cx="2709717" cy="2144050"/>
          </a:xfrm>
          <a:prstGeom prst="rect">
            <a:avLst/>
          </a:prstGeom>
          <a:noFill/>
          <a:ln>
            <a:noFill/>
          </a:ln>
        </p:spPr>
      </p:pic>
      <p:pic>
        <p:nvPicPr>
          <p:cNvPr id="172" name="Google Shape;172;p23"/>
          <p:cNvPicPr preferRelativeResize="0"/>
          <p:nvPr/>
        </p:nvPicPr>
        <p:blipFill>
          <a:blip r:embed="rId4">
            <a:alphaModFix/>
          </a:blip>
          <a:stretch>
            <a:fillRect/>
          </a:stretch>
        </p:blipFill>
        <p:spPr>
          <a:xfrm>
            <a:off x="5232152" y="2882550"/>
            <a:ext cx="2668649" cy="2144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727650" y="6172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Hyperparameter Tuning</a:t>
            </a:r>
            <a:endParaRPr/>
          </a:p>
          <a:p>
            <a:pPr indent="0" lvl="0" marL="0" rtl="0" algn="l">
              <a:spcBef>
                <a:spcPts val="0"/>
              </a:spcBef>
              <a:spcAft>
                <a:spcPts val="0"/>
              </a:spcAft>
              <a:buNone/>
            </a:pPr>
            <a:r>
              <a:t/>
            </a:r>
            <a:endParaRPr/>
          </a:p>
        </p:txBody>
      </p:sp>
      <p:sp>
        <p:nvSpPr>
          <p:cNvPr id="178" name="Google Shape;178;p24"/>
          <p:cNvSpPr txBox="1"/>
          <p:nvPr>
            <p:ph idx="1" type="body"/>
          </p:nvPr>
        </p:nvSpPr>
        <p:spPr>
          <a:xfrm>
            <a:off x="278125" y="1441200"/>
            <a:ext cx="4505400" cy="3290400"/>
          </a:xfrm>
          <a:prstGeom prst="rect">
            <a:avLst/>
          </a:prstGeom>
        </p:spPr>
        <p:txBody>
          <a:bodyPr anchorCtr="0" anchor="t" bIns="91425" lIns="91425" spcFirstLastPara="1" rIns="91425" wrap="square" tIns="91425">
            <a:normAutofit fontScale="70000" lnSpcReduction="20000"/>
          </a:bodyPr>
          <a:lstStyle/>
          <a:p>
            <a:pPr indent="0" lvl="0" marL="0" rtl="0" algn="l">
              <a:spcBef>
                <a:spcPts val="1400"/>
              </a:spcBef>
              <a:spcAft>
                <a:spcPts val="0"/>
              </a:spcAft>
              <a:buNone/>
            </a:pPr>
            <a:r>
              <a:rPr b="1" lang="en-CA">
                <a:solidFill>
                  <a:srgbClr val="000000"/>
                </a:solidFill>
                <a:latin typeface="Arial"/>
                <a:ea typeface="Arial"/>
                <a:cs typeface="Arial"/>
                <a:sym typeface="Arial"/>
              </a:rPr>
              <a:t>ML Models — Hyperparameter Tuning</a:t>
            </a:r>
            <a:endParaRPr b="1">
              <a:solidFill>
                <a:srgbClr val="000000"/>
              </a:solidFill>
              <a:latin typeface="Arial"/>
              <a:ea typeface="Arial"/>
              <a:cs typeface="Arial"/>
              <a:sym typeface="Arial"/>
            </a:endParaRPr>
          </a:p>
          <a:p>
            <a:pPr indent="-277495"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Scope:</a:t>
            </a:r>
            <a:r>
              <a:rPr lang="en-CA" sz="1100">
                <a:solidFill>
                  <a:srgbClr val="000000"/>
                </a:solidFill>
                <a:latin typeface="Arial"/>
                <a:ea typeface="Arial"/>
                <a:cs typeface="Arial"/>
                <a:sym typeface="Arial"/>
              </a:rPr>
              <a:t> Instead of a full search over all model–setup combinations, we first selected the </a:t>
            </a:r>
            <a:r>
              <a:rPr b="1" lang="en-CA" sz="1100">
                <a:solidFill>
                  <a:srgbClr val="000000"/>
                </a:solidFill>
                <a:latin typeface="Arial"/>
                <a:ea typeface="Arial"/>
                <a:cs typeface="Arial"/>
                <a:sym typeface="Arial"/>
              </a:rPr>
              <a:t>Top-5 (setup, model)</a:t>
            </a:r>
            <a:r>
              <a:rPr lang="en-CA" sz="1100">
                <a:solidFill>
                  <a:srgbClr val="000000"/>
                </a:solidFill>
                <a:latin typeface="Arial"/>
                <a:ea typeface="Arial"/>
                <a:cs typeface="Arial"/>
                <a:sym typeface="Arial"/>
              </a:rPr>
              <a:t> pairs based on the baseline results. Hyperparameter tuning was applied </a:t>
            </a:r>
            <a:r>
              <a:rPr b="1" lang="en-CA" sz="1100">
                <a:solidFill>
                  <a:srgbClr val="000000"/>
                </a:solidFill>
                <a:latin typeface="Arial"/>
                <a:ea typeface="Arial"/>
                <a:cs typeface="Arial"/>
                <a:sym typeface="Arial"/>
              </a:rPr>
              <a:t>only</a:t>
            </a:r>
            <a:r>
              <a:rPr lang="en-CA" sz="1100">
                <a:solidFill>
                  <a:srgbClr val="000000"/>
                </a:solidFill>
                <a:latin typeface="Arial"/>
                <a:ea typeface="Arial"/>
                <a:cs typeface="Arial"/>
                <a:sym typeface="Arial"/>
              </a:rPr>
              <a:t> to these Top-5.</a:t>
            </a:r>
            <a:endParaRPr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Goal:</a:t>
            </a:r>
            <a:r>
              <a:rPr lang="en-CA" sz="1100">
                <a:solidFill>
                  <a:srgbClr val="000000"/>
                </a:solidFill>
                <a:latin typeface="Arial"/>
                <a:ea typeface="Arial"/>
                <a:cs typeface="Arial"/>
                <a:sym typeface="Arial"/>
              </a:rPr>
              <a:t> Reduce the </a:t>
            </a:r>
            <a:r>
              <a:rPr b="1" lang="en-CA" sz="1100">
                <a:solidFill>
                  <a:srgbClr val="000000"/>
                </a:solidFill>
                <a:latin typeface="Arial"/>
                <a:ea typeface="Arial"/>
                <a:cs typeface="Arial"/>
                <a:sym typeface="Arial"/>
              </a:rPr>
              <a:t>search space</a:t>
            </a:r>
            <a:r>
              <a:rPr lang="en-CA" sz="1100">
                <a:solidFill>
                  <a:srgbClr val="000000"/>
                </a:solidFill>
                <a:latin typeface="Arial"/>
                <a:ea typeface="Arial"/>
                <a:cs typeface="Arial"/>
                <a:sym typeface="Arial"/>
              </a:rPr>
              <a:t> to lower </a:t>
            </a:r>
            <a:r>
              <a:rPr b="1" lang="en-CA" sz="1100">
                <a:solidFill>
                  <a:srgbClr val="000000"/>
                </a:solidFill>
                <a:latin typeface="Arial"/>
                <a:ea typeface="Arial"/>
                <a:cs typeface="Arial"/>
                <a:sym typeface="Arial"/>
              </a:rPr>
              <a:t>computational cost</a:t>
            </a:r>
            <a:r>
              <a:rPr lang="en-CA" sz="1100">
                <a:solidFill>
                  <a:srgbClr val="000000"/>
                </a:solidFill>
                <a:latin typeface="Arial"/>
                <a:ea typeface="Arial"/>
                <a:cs typeface="Arial"/>
                <a:sym typeface="Arial"/>
              </a:rPr>
              <a:t> and limit the risk of </a:t>
            </a:r>
            <a:r>
              <a:rPr b="1" lang="en-CA" sz="1100">
                <a:solidFill>
                  <a:srgbClr val="000000"/>
                </a:solidFill>
                <a:latin typeface="Arial"/>
                <a:ea typeface="Arial"/>
                <a:cs typeface="Arial"/>
                <a:sym typeface="Arial"/>
              </a:rPr>
              <a:t>overfitting</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Inner validation (inner CV):</a:t>
            </a:r>
            <a:r>
              <a:rPr lang="en-CA" sz="1100">
                <a:solidFill>
                  <a:srgbClr val="000000"/>
                </a:solidFill>
                <a:latin typeface="Arial"/>
                <a:ea typeface="Arial"/>
                <a:cs typeface="Arial"/>
                <a:sym typeface="Arial"/>
              </a:rPr>
              <a:t> For each selected Top-5 model, we used only the </a:t>
            </a:r>
            <a:r>
              <a:rPr b="1" lang="en-CA" sz="1100">
                <a:solidFill>
                  <a:srgbClr val="000000"/>
                </a:solidFill>
                <a:latin typeface="Arial"/>
                <a:ea typeface="Arial"/>
                <a:cs typeface="Arial"/>
                <a:sym typeface="Arial"/>
              </a:rPr>
              <a:t>first outer training window</a:t>
            </a:r>
            <a:r>
              <a:rPr lang="en-CA" sz="1100">
                <a:solidFill>
                  <a:srgbClr val="000000"/>
                </a:solidFill>
                <a:latin typeface="Arial"/>
                <a:ea typeface="Arial"/>
                <a:cs typeface="Arial"/>
                <a:sym typeface="Arial"/>
              </a:rPr>
              <a:t> and applied </a:t>
            </a:r>
            <a:r>
              <a:rPr b="1" lang="en-CA" sz="1100">
                <a:solidFill>
                  <a:srgbClr val="000000"/>
                </a:solidFill>
                <a:latin typeface="Arial"/>
                <a:ea typeface="Arial"/>
                <a:cs typeface="Arial"/>
                <a:sym typeface="Arial"/>
              </a:rPr>
              <a:t>TimeSeriesSplit (n_splits = 4)</a:t>
            </a:r>
            <a:r>
              <a:rPr lang="en-CA" sz="1100">
                <a:solidFill>
                  <a:srgbClr val="000000"/>
                </a:solidFill>
                <a:latin typeface="Arial"/>
                <a:ea typeface="Arial"/>
                <a:cs typeface="Arial"/>
                <a:sym typeface="Arial"/>
              </a:rPr>
              <a:t> to keep the </a:t>
            </a:r>
            <a:r>
              <a:rPr b="1" lang="en-CA" sz="1100">
                <a:solidFill>
                  <a:srgbClr val="000000"/>
                </a:solidFill>
                <a:latin typeface="Arial"/>
                <a:ea typeface="Arial"/>
                <a:cs typeface="Arial"/>
                <a:sym typeface="Arial"/>
              </a:rPr>
              <a:t>time order</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Search method:</a:t>
            </a:r>
            <a:r>
              <a:rPr lang="en-CA" sz="1100">
                <a:solidFill>
                  <a:srgbClr val="000000"/>
                </a:solidFill>
                <a:latin typeface="Arial"/>
                <a:ea typeface="Arial"/>
                <a:cs typeface="Arial"/>
                <a:sym typeface="Arial"/>
              </a:rPr>
              <a:t> We used </a:t>
            </a:r>
            <a:r>
              <a:rPr b="1" lang="en-CA" sz="1100">
                <a:solidFill>
                  <a:srgbClr val="000000"/>
                </a:solidFill>
                <a:latin typeface="Arial"/>
                <a:ea typeface="Arial"/>
                <a:cs typeface="Arial"/>
                <a:sym typeface="Arial"/>
              </a:rPr>
              <a:t>RandomizedSearchCV</a:t>
            </a:r>
            <a:r>
              <a:rPr lang="en-CA" sz="1100">
                <a:solidFill>
                  <a:srgbClr val="000000"/>
                </a:solidFill>
                <a:latin typeface="Arial"/>
                <a:ea typeface="Arial"/>
                <a:cs typeface="Arial"/>
                <a:sym typeface="Arial"/>
              </a:rPr>
              <a:t> with </a:t>
            </a:r>
            <a:r>
              <a:rPr b="1" lang="en-CA" sz="1100">
                <a:solidFill>
                  <a:srgbClr val="000000"/>
                </a:solidFill>
                <a:latin typeface="Arial"/>
                <a:ea typeface="Arial"/>
                <a:cs typeface="Arial"/>
                <a:sym typeface="Arial"/>
              </a:rPr>
              <a:t>20 trials per model (n_iter = 20)</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Scoring:</a:t>
            </a:r>
            <a:r>
              <a:rPr lang="en-CA" sz="1100">
                <a:solidFill>
                  <a:srgbClr val="000000"/>
                </a:solidFill>
                <a:latin typeface="Arial"/>
                <a:ea typeface="Arial"/>
                <a:cs typeface="Arial"/>
                <a:sym typeface="Arial"/>
              </a:rPr>
              <a:t> The optimization metric was </a:t>
            </a:r>
            <a:r>
              <a:rPr b="1" lang="en-CA" sz="1100">
                <a:solidFill>
                  <a:srgbClr val="000000"/>
                </a:solidFill>
                <a:latin typeface="Arial"/>
                <a:ea typeface="Arial"/>
                <a:cs typeface="Arial"/>
                <a:sym typeface="Arial"/>
              </a:rPr>
              <a:t>Macro-F1</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Class imbalance:</a:t>
            </a:r>
            <a:r>
              <a:rPr lang="en-CA" sz="1100">
                <a:solidFill>
                  <a:srgbClr val="000000"/>
                </a:solidFill>
                <a:latin typeface="Arial"/>
                <a:ea typeface="Arial"/>
                <a:cs typeface="Arial"/>
                <a:sym typeface="Arial"/>
              </a:rPr>
              <a:t> In each trial, we used </a:t>
            </a:r>
            <a:r>
              <a:rPr b="1" lang="en-CA" sz="1100">
                <a:solidFill>
                  <a:srgbClr val="000000"/>
                </a:solidFill>
                <a:latin typeface="Arial"/>
                <a:ea typeface="Arial"/>
                <a:cs typeface="Arial"/>
                <a:sym typeface="Arial"/>
              </a:rPr>
              <a:t>balanced sample weights</a:t>
            </a:r>
            <a:r>
              <a:rPr lang="en-CA" sz="1100">
                <a:solidFill>
                  <a:srgbClr val="000000"/>
                </a:solidFill>
                <a:latin typeface="Arial"/>
                <a:ea typeface="Arial"/>
                <a:cs typeface="Arial"/>
                <a:sym typeface="Arial"/>
              </a:rPr>
              <a:t> (via </a:t>
            </a:r>
            <a:r>
              <a:rPr lang="en-CA" sz="1100">
                <a:solidFill>
                  <a:srgbClr val="188038"/>
                </a:solidFill>
                <a:latin typeface="Roboto Mono"/>
                <a:ea typeface="Roboto Mono"/>
                <a:cs typeface="Roboto Mono"/>
                <a:sym typeface="Roboto Mono"/>
              </a:rPr>
              <a:t>compute_sample_weight</a:t>
            </a:r>
            <a:r>
              <a:rPr lang="en-CA" sz="1100">
                <a:solidFill>
                  <a:srgbClr val="000000"/>
                </a:solidFill>
                <a:latin typeface="Arial"/>
                <a:ea typeface="Arial"/>
                <a:cs typeface="Arial"/>
                <a:sym typeface="Arial"/>
              </a:rPr>
              <a:t>) to reduce the impact of class imbalance during training.</a:t>
            </a:r>
            <a:endParaRPr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Final evaluation:</a:t>
            </a:r>
            <a:r>
              <a:rPr lang="en-CA" sz="1100">
                <a:solidFill>
                  <a:srgbClr val="000000"/>
                </a:solidFill>
                <a:latin typeface="Arial"/>
                <a:ea typeface="Arial"/>
                <a:cs typeface="Arial"/>
                <a:sym typeface="Arial"/>
              </a:rPr>
              <a:t> Using the best hyperparameters from inner CV, each model was retrained and evaluated again using the same </a:t>
            </a:r>
            <a:r>
              <a:rPr b="1" lang="en-CA" sz="1100">
                <a:solidFill>
                  <a:srgbClr val="000000"/>
                </a:solidFill>
                <a:latin typeface="Arial"/>
                <a:ea typeface="Arial"/>
                <a:cs typeface="Arial"/>
                <a:sym typeface="Arial"/>
              </a:rPr>
              <a:t>walk-forward (outer folds)</a:t>
            </a:r>
            <a:r>
              <a:rPr lang="en-CA" sz="1100">
                <a:solidFill>
                  <a:srgbClr val="000000"/>
                </a:solidFill>
                <a:latin typeface="Arial"/>
                <a:ea typeface="Arial"/>
                <a:cs typeface="Arial"/>
                <a:sym typeface="Arial"/>
              </a:rPr>
              <a:t> procedure as in the baseline.</a:t>
            </a:r>
            <a:endParaRPr sz="11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rPr b="1" lang="en-CA" sz="1086">
                <a:solidFill>
                  <a:srgbClr val="000000"/>
                </a:solidFill>
                <a:latin typeface="Arial"/>
                <a:ea typeface="Arial"/>
                <a:cs typeface="Arial"/>
                <a:sym typeface="Arial"/>
              </a:rPr>
              <a:t>The hyperparameter search spaces were defined per model as follows:</a:t>
            </a:r>
            <a:endParaRPr b="1" sz="1086">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8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8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8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8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8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8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8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8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8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b="1" sz="800">
              <a:solidFill>
                <a:srgbClr val="000000"/>
              </a:solidFill>
              <a:latin typeface="Arial"/>
              <a:ea typeface="Arial"/>
              <a:cs typeface="Arial"/>
              <a:sym typeface="Arial"/>
            </a:endParaRPr>
          </a:p>
        </p:txBody>
      </p:sp>
      <p:sp>
        <p:nvSpPr>
          <p:cNvPr id="179" name="Google Shape;179;p24"/>
          <p:cNvSpPr txBox="1"/>
          <p:nvPr>
            <p:ph idx="1" type="body"/>
          </p:nvPr>
        </p:nvSpPr>
        <p:spPr>
          <a:xfrm>
            <a:off x="4938850" y="1330200"/>
            <a:ext cx="4002600" cy="35631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None/>
            </a:pPr>
            <a:r>
              <a:rPr b="1" lang="en-CA" sz="1100">
                <a:solidFill>
                  <a:srgbClr val="000000"/>
                </a:solidFill>
                <a:latin typeface="Arial"/>
                <a:ea typeface="Arial"/>
                <a:cs typeface="Arial"/>
                <a:sym typeface="Arial"/>
              </a:rPr>
              <a:t>MLP Models – Hyperparameter Tuning</a:t>
            </a:r>
            <a:endParaRPr b="1" sz="1100">
              <a:solidFill>
                <a:srgbClr val="000000"/>
              </a:solidFill>
              <a:latin typeface="Arial"/>
              <a:ea typeface="Arial"/>
              <a:cs typeface="Arial"/>
              <a:sym typeface="Arial"/>
            </a:endParaRPr>
          </a:p>
          <a:p>
            <a:pPr indent="-287973" lvl="0" marL="457200" rtl="0" algn="l">
              <a:spcBef>
                <a:spcPts val="120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Step 1 (Baseline):</a:t>
            </a:r>
            <a:r>
              <a:rPr lang="en-CA" sz="1100">
                <a:solidFill>
                  <a:srgbClr val="000000"/>
                </a:solidFill>
                <a:latin typeface="Arial"/>
                <a:ea typeface="Arial"/>
                <a:cs typeface="Arial"/>
                <a:sym typeface="Arial"/>
              </a:rPr>
              <a:t> For each setup, results were produced using </a:t>
            </a:r>
            <a:r>
              <a:rPr b="1" lang="en-CA" sz="1100">
                <a:solidFill>
                  <a:srgbClr val="000000"/>
                </a:solidFill>
                <a:latin typeface="Arial"/>
                <a:ea typeface="Arial"/>
                <a:cs typeface="Arial"/>
                <a:sym typeface="Arial"/>
              </a:rPr>
              <a:t>four fixed MLP architectures</a:t>
            </a:r>
            <a:r>
              <a:rPr lang="en-CA" sz="1100">
                <a:solidFill>
                  <a:srgbClr val="000000"/>
                </a:solidFill>
                <a:latin typeface="Arial"/>
                <a:ea typeface="Arial"/>
                <a:cs typeface="Arial"/>
                <a:sym typeface="Arial"/>
              </a:rPr>
              <a:t> and ranked by </a:t>
            </a:r>
            <a:r>
              <a:rPr b="1" lang="en-CA" sz="1100">
                <a:solidFill>
                  <a:srgbClr val="000000"/>
                </a:solidFill>
                <a:latin typeface="Arial"/>
                <a:ea typeface="Arial"/>
                <a:cs typeface="Arial"/>
                <a:sym typeface="Arial"/>
              </a:rPr>
              <a:t>Macro-F1</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Step 2 (Top-5 selection):</a:t>
            </a:r>
            <a:r>
              <a:rPr lang="en-CA" sz="1100">
                <a:solidFill>
                  <a:srgbClr val="000000"/>
                </a:solidFill>
                <a:latin typeface="Arial"/>
                <a:ea typeface="Arial"/>
                <a:cs typeface="Arial"/>
                <a:sym typeface="Arial"/>
              </a:rPr>
              <a:t> The </a:t>
            </a:r>
            <a:r>
              <a:rPr b="1" lang="en-CA" sz="1100">
                <a:solidFill>
                  <a:srgbClr val="000000"/>
                </a:solidFill>
                <a:latin typeface="Arial"/>
                <a:ea typeface="Arial"/>
                <a:cs typeface="Arial"/>
                <a:sym typeface="Arial"/>
              </a:rPr>
              <a:t>top 5</a:t>
            </a:r>
            <a:r>
              <a:rPr lang="en-CA" sz="1100">
                <a:solidFill>
                  <a:srgbClr val="000000"/>
                </a:solidFill>
                <a:latin typeface="Arial"/>
                <a:ea typeface="Arial"/>
                <a:cs typeface="Arial"/>
                <a:sym typeface="Arial"/>
              </a:rPr>
              <a:t> (setup, MLP) combinations were selected from this ranking.</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Step 3 (Limited search):</a:t>
            </a:r>
            <a:r>
              <a:rPr lang="en-CA" sz="1100">
                <a:solidFill>
                  <a:srgbClr val="000000"/>
                </a:solidFill>
                <a:latin typeface="Arial"/>
                <a:ea typeface="Arial"/>
                <a:cs typeface="Arial"/>
                <a:sym typeface="Arial"/>
              </a:rPr>
              <a:t> Hyperparameter tuning was performed </a:t>
            </a:r>
            <a:r>
              <a:rPr b="1" lang="en-CA" sz="1100">
                <a:solidFill>
                  <a:srgbClr val="000000"/>
                </a:solidFill>
                <a:latin typeface="Arial"/>
                <a:ea typeface="Arial"/>
                <a:cs typeface="Arial"/>
                <a:sym typeface="Arial"/>
              </a:rPr>
              <a:t>only</a:t>
            </a:r>
            <a:r>
              <a:rPr lang="en-CA" sz="1100">
                <a:solidFill>
                  <a:srgbClr val="000000"/>
                </a:solidFill>
                <a:latin typeface="Arial"/>
                <a:ea typeface="Arial"/>
                <a:cs typeface="Arial"/>
                <a:sym typeface="Arial"/>
              </a:rPr>
              <a:t> on these Top-5 models.</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Pipeline requirement:</a:t>
            </a:r>
            <a:r>
              <a:rPr lang="en-CA" sz="1100">
                <a:solidFill>
                  <a:srgbClr val="000000"/>
                </a:solidFill>
                <a:latin typeface="Arial"/>
                <a:ea typeface="Arial"/>
                <a:cs typeface="Arial"/>
                <a:sym typeface="Arial"/>
              </a:rPr>
              <a:t> All MLPs were trained using a </a:t>
            </a:r>
            <a:r>
              <a:rPr b="1" lang="en-CA" sz="1100">
                <a:solidFill>
                  <a:srgbClr val="000000"/>
                </a:solidFill>
                <a:latin typeface="Arial"/>
                <a:ea typeface="Arial"/>
                <a:cs typeface="Arial"/>
                <a:sym typeface="Arial"/>
              </a:rPr>
              <a:t>StandardScaler + MLPClassifier</a:t>
            </a:r>
            <a:r>
              <a:rPr lang="en-CA" sz="1100">
                <a:solidFill>
                  <a:srgbClr val="000000"/>
                </a:solidFill>
                <a:latin typeface="Arial"/>
                <a:ea typeface="Arial"/>
                <a:cs typeface="Arial"/>
                <a:sym typeface="Arial"/>
              </a:rPr>
              <a:t> pipeline.</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Search strategy:</a:t>
            </a:r>
            <a:r>
              <a:rPr lang="en-CA" sz="1100">
                <a:solidFill>
                  <a:srgbClr val="000000"/>
                </a:solidFill>
                <a:latin typeface="Arial"/>
                <a:ea typeface="Arial"/>
                <a:cs typeface="Arial"/>
                <a:sym typeface="Arial"/>
              </a:rPr>
              <a:t> Instead of </a:t>
            </a:r>
            <a:r>
              <a:rPr b="1" lang="en-CA" sz="1100">
                <a:solidFill>
                  <a:srgbClr val="000000"/>
                </a:solidFill>
                <a:latin typeface="Arial"/>
                <a:ea typeface="Arial"/>
                <a:cs typeface="Arial"/>
                <a:sym typeface="Arial"/>
              </a:rPr>
              <a:t>RandomizedSearchCV</a:t>
            </a:r>
            <a:r>
              <a:rPr lang="en-CA" sz="1100">
                <a:solidFill>
                  <a:srgbClr val="000000"/>
                </a:solidFill>
                <a:latin typeface="Arial"/>
                <a:ea typeface="Arial"/>
                <a:cs typeface="Arial"/>
                <a:sym typeface="Arial"/>
              </a:rPr>
              <a:t>, we generated parameter combinations in advance, </a:t>
            </a:r>
            <a:r>
              <a:rPr b="1" lang="en-CA" sz="1100">
                <a:solidFill>
                  <a:srgbClr val="000000"/>
                </a:solidFill>
                <a:latin typeface="Arial"/>
                <a:ea typeface="Arial"/>
                <a:cs typeface="Arial"/>
                <a:sym typeface="Arial"/>
              </a:rPr>
              <a:t>shuffled them randomly</a:t>
            </a:r>
            <a:r>
              <a:rPr lang="en-CA" sz="1100">
                <a:solidFill>
                  <a:srgbClr val="000000"/>
                </a:solidFill>
                <a:latin typeface="Arial"/>
                <a:ea typeface="Arial"/>
                <a:cs typeface="Arial"/>
                <a:sym typeface="Arial"/>
              </a:rPr>
              <a:t>, tested them one by one, and selected the best </a:t>
            </a:r>
            <a:r>
              <a:rPr b="1" lang="en-CA" sz="1100">
                <a:solidFill>
                  <a:srgbClr val="000000"/>
                </a:solidFill>
                <a:latin typeface="Arial"/>
                <a:ea typeface="Arial"/>
                <a:cs typeface="Arial"/>
                <a:sym typeface="Arial"/>
              </a:rPr>
              <a:t>Macro-F1</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Separate search spaces by solver:</a:t>
            </a:r>
            <a:endParaRPr b="1" sz="1100">
              <a:solidFill>
                <a:srgbClr val="000000"/>
              </a:solidFill>
              <a:latin typeface="Arial"/>
              <a:ea typeface="Arial"/>
              <a:cs typeface="Arial"/>
              <a:sym typeface="Arial"/>
            </a:endParaRPr>
          </a:p>
          <a:p>
            <a:pPr indent="-287973"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adam:</a:t>
            </a:r>
            <a:r>
              <a:rPr lang="en-CA">
                <a:solidFill>
                  <a:srgbClr val="000000"/>
                </a:solidFill>
                <a:latin typeface="Arial"/>
                <a:ea typeface="Arial"/>
                <a:cs typeface="Arial"/>
                <a:sym typeface="Arial"/>
              </a:rPr>
              <a:t> wider grid (e.g., </a:t>
            </a:r>
            <a:r>
              <a:rPr lang="en-CA">
                <a:solidFill>
                  <a:srgbClr val="188038"/>
                </a:solidFill>
                <a:latin typeface="Roboto Mono"/>
                <a:ea typeface="Roboto Mono"/>
                <a:cs typeface="Roboto Mono"/>
                <a:sym typeface="Roboto Mono"/>
              </a:rPr>
              <a:t>alpha</a:t>
            </a:r>
            <a:r>
              <a:rPr lang="en-CA">
                <a:solidFill>
                  <a:srgbClr val="000000"/>
                </a:solidFill>
                <a:latin typeface="Arial"/>
                <a:ea typeface="Arial"/>
                <a:cs typeface="Arial"/>
                <a:sym typeface="Arial"/>
              </a:rPr>
              <a:t>, </a:t>
            </a:r>
            <a:r>
              <a:rPr lang="en-CA">
                <a:solidFill>
                  <a:srgbClr val="188038"/>
                </a:solidFill>
                <a:latin typeface="Roboto Mono"/>
                <a:ea typeface="Roboto Mono"/>
                <a:cs typeface="Roboto Mono"/>
                <a:sym typeface="Roboto Mono"/>
              </a:rPr>
              <a:t>learning_rate_init</a:t>
            </a:r>
            <a:r>
              <a:rPr lang="en-CA">
                <a:solidFill>
                  <a:srgbClr val="000000"/>
                </a:solidFill>
                <a:latin typeface="Arial"/>
                <a:ea typeface="Arial"/>
                <a:cs typeface="Arial"/>
                <a:sym typeface="Arial"/>
              </a:rPr>
              <a:t>, </a:t>
            </a:r>
            <a:r>
              <a:rPr lang="en-CA">
                <a:solidFill>
                  <a:srgbClr val="188038"/>
                </a:solidFill>
                <a:latin typeface="Roboto Mono"/>
                <a:ea typeface="Roboto Mono"/>
                <a:cs typeface="Roboto Mono"/>
                <a:sym typeface="Roboto Mono"/>
              </a:rPr>
              <a:t>activation</a:t>
            </a:r>
            <a:r>
              <a:rPr lang="en-CA">
                <a:solidFill>
                  <a:srgbClr val="000000"/>
                </a:solidFill>
                <a:latin typeface="Arial"/>
                <a:ea typeface="Arial"/>
                <a:cs typeface="Arial"/>
                <a:sym typeface="Arial"/>
              </a:rPr>
              <a:t>, </a:t>
            </a:r>
            <a:r>
              <a:rPr lang="en-CA">
                <a:solidFill>
                  <a:srgbClr val="188038"/>
                </a:solidFill>
                <a:latin typeface="Roboto Mono"/>
                <a:ea typeface="Roboto Mono"/>
                <a:cs typeface="Roboto Mono"/>
                <a:sym typeface="Roboto Mono"/>
              </a:rPr>
              <a:t>early_stopping</a:t>
            </a:r>
            <a:r>
              <a:rPr lang="en-CA">
                <a:solidFill>
                  <a:srgbClr val="000000"/>
                </a:solidFill>
                <a:latin typeface="Arial"/>
                <a:ea typeface="Arial"/>
                <a:cs typeface="Arial"/>
                <a:sym typeface="Arial"/>
              </a:rPr>
              <a:t>, </a:t>
            </a:r>
            <a:r>
              <a:rPr lang="en-CA">
                <a:solidFill>
                  <a:srgbClr val="188038"/>
                </a:solidFill>
                <a:latin typeface="Roboto Mono"/>
                <a:ea typeface="Roboto Mono"/>
                <a:cs typeface="Roboto Mono"/>
                <a:sym typeface="Roboto Mono"/>
              </a:rPr>
              <a:t>validation_fraction</a:t>
            </a:r>
            <a:r>
              <a:rPr lang="en-CA">
                <a:solidFill>
                  <a:srgbClr val="000000"/>
                </a:solidFill>
                <a:latin typeface="Arial"/>
                <a:ea typeface="Arial"/>
                <a:cs typeface="Arial"/>
                <a:sym typeface="Arial"/>
              </a:rPr>
              <a:t>, </a:t>
            </a:r>
            <a:r>
              <a:rPr lang="en-CA">
                <a:solidFill>
                  <a:srgbClr val="188038"/>
                </a:solidFill>
                <a:latin typeface="Roboto Mono"/>
                <a:ea typeface="Roboto Mono"/>
                <a:cs typeface="Roboto Mono"/>
                <a:sym typeface="Roboto Mono"/>
              </a:rPr>
              <a:t>batch_size</a:t>
            </a:r>
            <a:r>
              <a:rPr lang="en-CA">
                <a:solidFill>
                  <a:srgbClr val="000000"/>
                </a:solidFill>
                <a:latin typeface="Arial"/>
                <a:ea typeface="Arial"/>
                <a:cs typeface="Arial"/>
                <a:sym typeface="Arial"/>
              </a:rPr>
              <a:t>, etc.)</a:t>
            </a:r>
            <a:endParaRPr>
              <a:solidFill>
                <a:srgbClr val="000000"/>
              </a:solidFill>
              <a:latin typeface="Arial"/>
              <a:ea typeface="Arial"/>
              <a:cs typeface="Arial"/>
              <a:sym typeface="Arial"/>
            </a:endParaRPr>
          </a:p>
          <a:p>
            <a:pPr indent="-287973" lvl="1" marL="914400" rtl="0" algn="l">
              <a:spcBef>
                <a:spcPts val="0"/>
              </a:spcBef>
              <a:spcAft>
                <a:spcPts val="0"/>
              </a:spcAft>
              <a:buClr>
                <a:srgbClr val="000000"/>
              </a:buClr>
              <a:buSzPct val="100000"/>
              <a:buFont typeface="Arial"/>
              <a:buChar char="○"/>
            </a:pPr>
            <a:r>
              <a:rPr b="1" lang="en-CA">
                <a:solidFill>
                  <a:srgbClr val="000000"/>
                </a:solidFill>
                <a:latin typeface="Arial"/>
                <a:ea typeface="Arial"/>
                <a:cs typeface="Arial"/>
                <a:sym typeface="Arial"/>
              </a:rPr>
              <a:t>lbfgs:</a:t>
            </a:r>
            <a:r>
              <a:rPr lang="en-CA">
                <a:solidFill>
                  <a:srgbClr val="000000"/>
                </a:solidFill>
                <a:latin typeface="Arial"/>
                <a:ea typeface="Arial"/>
                <a:cs typeface="Arial"/>
                <a:sym typeface="Arial"/>
              </a:rPr>
              <a:t> narrower grid (mainly </a:t>
            </a:r>
            <a:r>
              <a:rPr lang="en-CA">
                <a:solidFill>
                  <a:srgbClr val="188038"/>
                </a:solidFill>
                <a:latin typeface="Roboto Mono"/>
                <a:ea typeface="Roboto Mono"/>
                <a:cs typeface="Roboto Mono"/>
                <a:sym typeface="Roboto Mono"/>
              </a:rPr>
              <a:t>alpha</a:t>
            </a:r>
            <a:r>
              <a:rPr lang="en-CA">
                <a:solidFill>
                  <a:srgbClr val="000000"/>
                </a:solidFill>
                <a:latin typeface="Arial"/>
                <a:ea typeface="Arial"/>
                <a:cs typeface="Arial"/>
                <a:sym typeface="Arial"/>
              </a:rPr>
              <a:t> + </a:t>
            </a:r>
            <a:r>
              <a:rPr lang="en-CA">
                <a:solidFill>
                  <a:srgbClr val="188038"/>
                </a:solidFill>
                <a:latin typeface="Roboto Mono"/>
                <a:ea typeface="Roboto Mono"/>
                <a:cs typeface="Roboto Mono"/>
                <a:sym typeface="Roboto Mono"/>
              </a:rPr>
              <a:t>activation</a:t>
            </a:r>
            <a:r>
              <a:rPr lang="en-CA">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Search limit:</a:t>
            </a:r>
            <a:r>
              <a:rPr lang="en-CA" sz="1100">
                <a:solidFill>
                  <a:srgbClr val="000000"/>
                </a:solidFill>
                <a:latin typeface="Arial"/>
                <a:ea typeface="Arial"/>
                <a:cs typeface="Arial"/>
                <a:sym typeface="Arial"/>
              </a:rPr>
              <a:t> At most </a:t>
            </a:r>
            <a:r>
              <a:rPr b="1" lang="en-CA" sz="1100">
                <a:solidFill>
                  <a:srgbClr val="000000"/>
                </a:solidFill>
                <a:latin typeface="Arial"/>
                <a:ea typeface="Arial"/>
                <a:cs typeface="Arial"/>
                <a:sym typeface="Arial"/>
              </a:rPr>
              <a:t>40 configurations per model</a:t>
            </a:r>
            <a:r>
              <a:rPr lang="en-CA" sz="1100">
                <a:solidFill>
                  <a:srgbClr val="000000"/>
                </a:solidFill>
                <a:latin typeface="Arial"/>
                <a:ea typeface="Arial"/>
                <a:cs typeface="Arial"/>
                <a:sym typeface="Arial"/>
              </a:rPr>
              <a:t> were evaluated (to control computation cost).</a:t>
            </a:r>
            <a:endParaRPr sz="1100">
              <a:solidFill>
                <a:srgbClr val="000000"/>
              </a:solidFill>
              <a:latin typeface="Arial"/>
              <a:ea typeface="Arial"/>
              <a:cs typeface="Arial"/>
              <a:sym typeface="Arial"/>
            </a:endParaRPr>
          </a:p>
          <a:p>
            <a:pPr indent="-287973" lvl="0" marL="457200" rtl="0" algn="l">
              <a:spcBef>
                <a:spcPts val="0"/>
              </a:spcBef>
              <a:spcAft>
                <a:spcPts val="0"/>
              </a:spcAft>
              <a:buClr>
                <a:srgbClr val="000000"/>
              </a:buClr>
              <a:buSzPct val="100000"/>
              <a:buFont typeface="Arial"/>
              <a:buChar char="●"/>
            </a:pPr>
            <a:r>
              <a:rPr b="1" lang="en-CA" sz="1100">
                <a:solidFill>
                  <a:srgbClr val="000000"/>
                </a:solidFill>
                <a:latin typeface="Arial"/>
                <a:ea typeface="Arial"/>
                <a:cs typeface="Arial"/>
                <a:sym typeface="Arial"/>
              </a:rPr>
              <a:t>Speed / stability:</a:t>
            </a:r>
            <a:r>
              <a:rPr lang="en-CA" sz="1100">
                <a:solidFill>
                  <a:srgbClr val="000000"/>
                </a:solidFill>
                <a:latin typeface="Arial"/>
                <a:ea typeface="Arial"/>
                <a:cs typeface="Arial"/>
                <a:sym typeface="Arial"/>
              </a:rPr>
              <a:t> We used </a:t>
            </a:r>
            <a:r>
              <a:rPr lang="en-CA" sz="1100">
                <a:solidFill>
                  <a:srgbClr val="188038"/>
                </a:solidFill>
                <a:latin typeface="Roboto Mono"/>
                <a:ea typeface="Roboto Mono"/>
                <a:cs typeface="Roboto Mono"/>
                <a:sym typeface="Roboto Mono"/>
              </a:rPr>
              <a:t>max_iter = 1000</a:t>
            </a:r>
            <a:r>
              <a:rPr lang="en-CA" sz="1100">
                <a:solidFill>
                  <a:srgbClr val="000000"/>
                </a:solidFill>
                <a:latin typeface="Arial"/>
                <a:ea typeface="Arial"/>
                <a:cs typeface="Arial"/>
                <a:sym typeface="Arial"/>
              </a:rPr>
              <a:t> and suppressed </a:t>
            </a:r>
            <a:r>
              <a:rPr b="1" lang="en-CA" sz="1100">
                <a:solidFill>
                  <a:srgbClr val="000000"/>
                </a:solidFill>
                <a:latin typeface="Arial"/>
                <a:ea typeface="Arial"/>
                <a:cs typeface="Arial"/>
                <a:sym typeface="Arial"/>
              </a:rPr>
              <a:t>ConvergenceWarning</a:t>
            </a:r>
            <a:r>
              <a:rPr lang="en-CA" sz="1100">
                <a:solidFill>
                  <a:srgbClr val="000000"/>
                </a:solidFill>
                <a:latin typeface="Arial"/>
                <a:ea typeface="Arial"/>
                <a:cs typeface="Arial"/>
                <a:sym typeface="Arial"/>
              </a:rPr>
              <a:t>.</a:t>
            </a:r>
            <a:endParaRPr b="1" sz="1700">
              <a:solidFill>
                <a:srgbClr val="000000"/>
              </a:solidFill>
              <a:latin typeface="Arial"/>
              <a:ea typeface="Arial"/>
              <a:cs typeface="Arial"/>
              <a:sym typeface="Arial"/>
            </a:endParaRPr>
          </a:p>
        </p:txBody>
      </p:sp>
      <p:pic>
        <p:nvPicPr>
          <p:cNvPr id="180" name="Google Shape;180;p24"/>
          <p:cNvPicPr preferRelativeResize="0"/>
          <p:nvPr/>
        </p:nvPicPr>
        <p:blipFill>
          <a:blip r:embed="rId3">
            <a:alphaModFix/>
          </a:blip>
          <a:stretch>
            <a:fillRect/>
          </a:stretch>
        </p:blipFill>
        <p:spPr>
          <a:xfrm>
            <a:off x="489975" y="4030446"/>
            <a:ext cx="3757150" cy="948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txBox="1"/>
          <p:nvPr>
            <p:ph type="title"/>
          </p:nvPr>
        </p:nvSpPr>
        <p:spPr>
          <a:xfrm>
            <a:off x="635925" y="579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Baseline Vs After Hyperparameters Results</a:t>
            </a:r>
            <a:endParaRPr/>
          </a:p>
        </p:txBody>
      </p:sp>
      <p:sp>
        <p:nvSpPr>
          <p:cNvPr id="186" name="Google Shape;186;p25"/>
          <p:cNvSpPr txBox="1"/>
          <p:nvPr>
            <p:ph idx="1" type="body"/>
          </p:nvPr>
        </p:nvSpPr>
        <p:spPr>
          <a:xfrm>
            <a:off x="317950" y="1478625"/>
            <a:ext cx="4122600" cy="2261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CA" sz="1240">
                <a:solidFill>
                  <a:schemeClr val="dk2"/>
                </a:solidFill>
                <a:latin typeface="Raleway"/>
                <a:ea typeface="Raleway"/>
                <a:cs typeface="Raleway"/>
                <a:sym typeface="Raleway"/>
              </a:rPr>
              <a:t>BTC Price, Tweets and News Dataset </a:t>
            </a:r>
            <a:endParaRPr b="1" sz="124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rPr b="1" lang="en-CA" sz="1240">
                <a:solidFill>
                  <a:schemeClr val="dk2"/>
                </a:solidFill>
                <a:latin typeface="Raleway"/>
                <a:ea typeface="Raleway"/>
                <a:cs typeface="Raleway"/>
                <a:sym typeface="Raleway"/>
              </a:rPr>
              <a:t>ML Modelleri;</a:t>
            </a:r>
            <a:endParaRPr b="1" sz="124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4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4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4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4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40">
              <a:solidFill>
                <a:schemeClr val="dk2"/>
              </a:solidFill>
              <a:latin typeface="Raleway"/>
              <a:ea typeface="Raleway"/>
              <a:cs typeface="Raleway"/>
              <a:sym typeface="Raleway"/>
            </a:endParaRPr>
          </a:p>
          <a:p>
            <a:pPr indent="0" lvl="0" marL="0" rtl="0" algn="l">
              <a:lnSpc>
                <a:spcPct val="100000"/>
              </a:lnSpc>
              <a:spcBef>
                <a:spcPts val="0"/>
              </a:spcBef>
              <a:spcAft>
                <a:spcPts val="0"/>
              </a:spcAft>
              <a:buClr>
                <a:srgbClr val="000000"/>
              </a:buClr>
              <a:buSzPts val="990"/>
              <a:buFont typeface="Arial"/>
              <a:buNone/>
            </a:pPr>
            <a:r>
              <a:rPr b="1" lang="en-CA" sz="1240">
                <a:solidFill>
                  <a:schemeClr val="dk2"/>
                </a:solidFill>
                <a:latin typeface="Raleway"/>
                <a:ea typeface="Raleway"/>
                <a:cs typeface="Raleway"/>
                <a:sym typeface="Raleway"/>
              </a:rPr>
              <a:t>MLP Modelleri;</a:t>
            </a:r>
            <a:endParaRPr b="1" sz="1240">
              <a:solidFill>
                <a:schemeClr val="dk2"/>
              </a:solidFill>
              <a:latin typeface="Raleway"/>
              <a:ea typeface="Raleway"/>
              <a:cs typeface="Raleway"/>
              <a:sym typeface="Raleway"/>
            </a:endParaRPr>
          </a:p>
        </p:txBody>
      </p:sp>
      <p:pic>
        <p:nvPicPr>
          <p:cNvPr id="187" name="Google Shape;187;p25"/>
          <p:cNvPicPr preferRelativeResize="0"/>
          <p:nvPr/>
        </p:nvPicPr>
        <p:blipFill>
          <a:blip r:embed="rId3">
            <a:alphaModFix/>
          </a:blip>
          <a:stretch>
            <a:fillRect/>
          </a:stretch>
        </p:blipFill>
        <p:spPr>
          <a:xfrm>
            <a:off x="0" y="1968300"/>
            <a:ext cx="4378975" cy="787300"/>
          </a:xfrm>
          <a:prstGeom prst="rect">
            <a:avLst/>
          </a:prstGeom>
          <a:noFill/>
          <a:ln>
            <a:noFill/>
          </a:ln>
        </p:spPr>
      </p:pic>
      <p:pic>
        <p:nvPicPr>
          <p:cNvPr id="188" name="Google Shape;188;p25"/>
          <p:cNvPicPr preferRelativeResize="0"/>
          <p:nvPr/>
        </p:nvPicPr>
        <p:blipFill>
          <a:blip r:embed="rId4">
            <a:alphaModFix/>
          </a:blip>
          <a:stretch>
            <a:fillRect/>
          </a:stretch>
        </p:blipFill>
        <p:spPr>
          <a:xfrm>
            <a:off x="179025" y="3221975"/>
            <a:ext cx="4122600" cy="601999"/>
          </a:xfrm>
          <a:prstGeom prst="rect">
            <a:avLst/>
          </a:prstGeom>
          <a:noFill/>
          <a:ln>
            <a:noFill/>
          </a:ln>
        </p:spPr>
      </p:pic>
      <p:sp>
        <p:nvSpPr>
          <p:cNvPr id="189" name="Google Shape;189;p25"/>
          <p:cNvSpPr txBox="1"/>
          <p:nvPr>
            <p:ph idx="1" type="body"/>
          </p:nvPr>
        </p:nvSpPr>
        <p:spPr>
          <a:xfrm>
            <a:off x="4440550" y="1441200"/>
            <a:ext cx="4421700" cy="2261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CA" sz="1200">
                <a:solidFill>
                  <a:schemeClr val="dk2"/>
                </a:solidFill>
                <a:latin typeface="Raleway"/>
                <a:ea typeface="Raleway"/>
                <a:cs typeface="Raleway"/>
                <a:sym typeface="Raleway"/>
              </a:rPr>
              <a:t>BTC Price, Fear &amp; Greed and News Dataset</a:t>
            </a:r>
            <a:endParaRPr b="1" sz="12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rPr b="1" lang="en-CA" sz="1000">
                <a:solidFill>
                  <a:schemeClr val="dk2"/>
                </a:solidFill>
                <a:latin typeface="Raleway"/>
                <a:ea typeface="Raleway"/>
                <a:cs typeface="Raleway"/>
                <a:sym typeface="Raleway"/>
              </a:rPr>
              <a:t>ML Modelleri;</a:t>
            </a:r>
            <a:endParaRPr b="1" sz="10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rPr b="1" lang="en-CA" sz="1000">
                <a:solidFill>
                  <a:schemeClr val="dk2"/>
                </a:solidFill>
                <a:latin typeface="Raleway"/>
                <a:ea typeface="Raleway"/>
                <a:cs typeface="Raleway"/>
                <a:sym typeface="Raleway"/>
              </a:rPr>
              <a:t>MLP Modelleri;</a:t>
            </a:r>
            <a:endParaRPr b="1" sz="10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00">
              <a:solidFill>
                <a:schemeClr val="dk2"/>
              </a:solidFill>
              <a:latin typeface="Raleway"/>
              <a:ea typeface="Raleway"/>
              <a:cs typeface="Raleway"/>
              <a:sym typeface="Raleway"/>
            </a:endParaRPr>
          </a:p>
        </p:txBody>
      </p:sp>
      <p:pic>
        <p:nvPicPr>
          <p:cNvPr id="190" name="Google Shape;190;p25"/>
          <p:cNvPicPr preferRelativeResize="0"/>
          <p:nvPr/>
        </p:nvPicPr>
        <p:blipFill>
          <a:blip r:embed="rId5">
            <a:alphaModFix/>
          </a:blip>
          <a:stretch>
            <a:fillRect/>
          </a:stretch>
        </p:blipFill>
        <p:spPr>
          <a:xfrm>
            <a:off x="4378975" y="2015925"/>
            <a:ext cx="4586625" cy="710108"/>
          </a:xfrm>
          <a:prstGeom prst="rect">
            <a:avLst/>
          </a:prstGeom>
          <a:noFill/>
          <a:ln>
            <a:noFill/>
          </a:ln>
        </p:spPr>
      </p:pic>
      <p:pic>
        <p:nvPicPr>
          <p:cNvPr id="191" name="Google Shape;191;p25"/>
          <p:cNvPicPr preferRelativeResize="0"/>
          <p:nvPr/>
        </p:nvPicPr>
        <p:blipFill>
          <a:blip r:embed="rId6">
            <a:alphaModFix/>
          </a:blip>
          <a:stretch>
            <a:fillRect/>
          </a:stretch>
        </p:blipFill>
        <p:spPr>
          <a:xfrm>
            <a:off x="4426013" y="3253950"/>
            <a:ext cx="4492547" cy="535200"/>
          </a:xfrm>
          <a:prstGeom prst="rect">
            <a:avLst/>
          </a:prstGeom>
          <a:noFill/>
          <a:ln>
            <a:noFill/>
          </a:ln>
        </p:spPr>
      </p:pic>
      <p:sp>
        <p:nvSpPr>
          <p:cNvPr id="192" name="Google Shape;192;p25"/>
          <p:cNvSpPr txBox="1"/>
          <p:nvPr>
            <p:ph idx="1" type="body"/>
          </p:nvPr>
        </p:nvSpPr>
        <p:spPr>
          <a:xfrm>
            <a:off x="1066597" y="3896000"/>
            <a:ext cx="6877800" cy="1050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CA" sz="1200">
                <a:solidFill>
                  <a:schemeClr val="dk2"/>
                </a:solidFill>
                <a:latin typeface="Raleway"/>
                <a:ea typeface="Raleway"/>
                <a:cs typeface="Raleway"/>
                <a:sym typeface="Raleway"/>
              </a:rPr>
              <a:t>aaaa</a:t>
            </a:r>
            <a:endParaRPr b="1" sz="10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b="1" sz="1200">
              <a:solidFill>
                <a:schemeClr val="dk2"/>
              </a:solidFill>
              <a:latin typeface="Raleway"/>
              <a:ea typeface="Raleway"/>
              <a:cs typeface="Raleway"/>
              <a:sym typeface="Ralew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txBox="1"/>
          <p:nvPr>
            <p:ph type="title"/>
          </p:nvPr>
        </p:nvSpPr>
        <p:spPr>
          <a:xfrm>
            <a:off x="727650" y="627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CONCLUSİON</a:t>
            </a:r>
            <a:endParaRPr/>
          </a:p>
        </p:txBody>
      </p:sp>
      <p:sp>
        <p:nvSpPr>
          <p:cNvPr id="198" name="Google Shape;198;p26"/>
          <p:cNvSpPr txBox="1"/>
          <p:nvPr>
            <p:ph idx="1" type="body"/>
          </p:nvPr>
        </p:nvSpPr>
        <p:spPr>
          <a:xfrm>
            <a:off x="3884375" y="1796350"/>
            <a:ext cx="4835400" cy="29199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Font typeface="Arial"/>
              <a:buChar char="●"/>
            </a:pPr>
            <a:r>
              <a:rPr lang="en-CA" sz="1100">
                <a:solidFill>
                  <a:srgbClr val="000000"/>
                </a:solidFill>
                <a:latin typeface="Arial"/>
                <a:ea typeface="Arial"/>
                <a:cs typeface="Arial"/>
                <a:sym typeface="Arial"/>
              </a:rPr>
              <a:t>We compared ML and MLP models on two BTC datasets using </a:t>
            </a:r>
            <a:r>
              <a:rPr b="1" lang="en-CA" sz="1100">
                <a:solidFill>
                  <a:srgbClr val="000000"/>
                </a:solidFill>
                <a:latin typeface="Arial"/>
                <a:ea typeface="Arial"/>
                <a:cs typeface="Arial"/>
                <a:sym typeface="Arial"/>
              </a:rPr>
              <a:t>walk-forward evaluation</a:t>
            </a:r>
            <a:r>
              <a:rPr lang="en-CA" sz="1100">
                <a:solidFill>
                  <a:srgbClr val="000000"/>
                </a:solidFill>
                <a:latin typeface="Arial"/>
                <a:ea typeface="Arial"/>
                <a:cs typeface="Arial"/>
                <a:sym typeface="Arial"/>
              </a:rPr>
              <a:t> and </a:t>
            </a:r>
            <a:r>
              <a:rPr b="1" lang="en-CA" sz="1100">
                <a:solidFill>
                  <a:srgbClr val="000000"/>
                </a:solidFill>
                <a:latin typeface="Arial"/>
                <a:ea typeface="Arial"/>
                <a:cs typeface="Arial"/>
                <a:sym typeface="Arial"/>
              </a:rPr>
              <a:t>fold-specific tercile labeling</a:t>
            </a:r>
            <a:r>
              <a:rPr lang="en-CA" sz="1100">
                <a:solidFill>
                  <a:srgbClr val="000000"/>
                </a:solidFill>
                <a:latin typeface="Arial"/>
                <a:ea typeface="Arial"/>
                <a:cs typeface="Arial"/>
                <a:sym typeface="Arial"/>
              </a:rPr>
              <a:t> to avoid look-ahead bias.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CA" sz="1100">
                <a:solidFill>
                  <a:srgbClr val="000000"/>
                </a:solidFill>
                <a:latin typeface="Arial"/>
                <a:ea typeface="Arial"/>
                <a:cs typeface="Arial"/>
                <a:sym typeface="Arial"/>
              </a:rPr>
              <a:t>On the </a:t>
            </a:r>
            <a:r>
              <a:rPr b="1" lang="en-CA" sz="1100">
                <a:solidFill>
                  <a:srgbClr val="000000"/>
                </a:solidFill>
                <a:latin typeface="Arial"/>
                <a:ea typeface="Arial"/>
                <a:cs typeface="Arial"/>
                <a:sym typeface="Arial"/>
              </a:rPr>
              <a:t>709-day dataset</a:t>
            </a:r>
            <a:r>
              <a:rPr lang="en-CA" sz="1100">
                <a:solidFill>
                  <a:srgbClr val="000000"/>
                </a:solidFill>
                <a:latin typeface="Arial"/>
                <a:ea typeface="Arial"/>
                <a:cs typeface="Arial"/>
                <a:sym typeface="Arial"/>
              </a:rPr>
              <a:t>, </a:t>
            </a:r>
            <a:r>
              <a:rPr b="1" lang="en-CA" sz="1100">
                <a:solidFill>
                  <a:srgbClr val="000000"/>
                </a:solidFill>
                <a:latin typeface="Arial"/>
                <a:ea typeface="Arial"/>
                <a:cs typeface="Arial"/>
                <a:sym typeface="Arial"/>
              </a:rPr>
              <a:t>traditional ML (Linear SVM)</a:t>
            </a:r>
            <a:r>
              <a:rPr lang="en-CA" sz="1100">
                <a:solidFill>
                  <a:srgbClr val="000000"/>
                </a:solidFill>
                <a:latin typeface="Arial"/>
                <a:ea typeface="Arial"/>
                <a:cs typeface="Arial"/>
                <a:sym typeface="Arial"/>
              </a:rPr>
              <a:t> provided the most stable performance; adding sentiment features did </a:t>
            </a:r>
            <a:r>
              <a:rPr b="1" lang="en-CA" sz="1100">
                <a:solidFill>
                  <a:srgbClr val="000000"/>
                </a:solidFill>
                <a:latin typeface="Arial"/>
                <a:ea typeface="Arial"/>
                <a:cs typeface="Arial"/>
                <a:sym typeface="Arial"/>
              </a:rPr>
              <a:t>not</a:t>
            </a:r>
            <a:r>
              <a:rPr lang="en-CA" sz="1100">
                <a:solidFill>
                  <a:srgbClr val="000000"/>
                </a:solidFill>
                <a:latin typeface="Arial"/>
                <a:ea typeface="Arial"/>
                <a:cs typeface="Arial"/>
                <a:sym typeface="Arial"/>
              </a:rPr>
              <a:t> consistently improve accuracy.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CA" sz="1100">
                <a:solidFill>
                  <a:srgbClr val="000000"/>
                </a:solidFill>
                <a:latin typeface="Arial"/>
                <a:ea typeface="Arial"/>
                <a:cs typeface="Arial"/>
                <a:sym typeface="Arial"/>
              </a:rPr>
              <a:t>On the </a:t>
            </a:r>
            <a:r>
              <a:rPr b="1" lang="en-CA" sz="1100">
                <a:solidFill>
                  <a:srgbClr val="000000"/>
                </a:solidFill>
                <a:latin typeface="Arial"/>
                <a:ea typeface="Arial"/>
                <a:cs typeface="Arial"/>
                <a:sym typeface="Arial"/>
              </a:rPr>
              <a:t>167-day dataset</a:t>
            </a:r>
            <a:r>
              <a:rPr lang="en-CA" sz="1100">
                <a:solidFill>
                  <a:srgbClr val="000000"/>
                </a:solidFill>
                <a:latin typeface="Arial"/>
                <a:ea typeface="Arial"/>
                <a:cs typeface="Arial"/>
                <a:sym typeface="Arial"/>
              </a:rPr>
              <a:t>, a </a:t>
            </a:r>
            <a:r>
              <a:rPr b="1" lang="en-CA" sz="1100">
                <a:solidFill>
                  <a:srgbClr val="000000"/>
                </a:solidFill>
                <a:latin typeface="Arial"/>
                <a:ea typeface="Arial"/>
                <a:cs typeface="Arial"/>
                <a:sym typeface="Arial"/>
              </a:rPr>
              <a:t>shallow MLP</a:t>
            </a:r>
            <a:r>
              <a:rPr lang="en-CA" sz="1100">
                <a:solidFill>
                  <a:srgbClr val="000000"/>
                </a:solidFill>
                <a:latin typeface="Arial"/>
                <a:ea typeface="Arial"/>
                <a:cs typeface="Arial"/>
                <a:sym typeface="Arial"/>
              </a:rPr>
              <a:t> performed best when combining </a:t>
            </a:r>
            <a:r>
              <a:rPr b="1" lang="en-CA" sz="1100">
                <a:solidFill>
                  <a:srgbClr val="000000"/>
                </a:solidFill>
                <a:latin typeface="Arial"/>
                <a:ea typeface="Arial"/>
                <a:cs typeface="Arial"/>
                <a:sym typeface="Arial"/>
              </a:rPr>
              <a:t>Price + Twitter + News</a:t>
            </a:r>
            <a:r>
              <a:rPr lang="en-CA" sz="1100">
                <a:solidFill>
                  <a:srgbClr val="000000"/>
                </a:solidFill>
                <a:latin typeface="Arial"/>
                <a:ea typeface="Arial"/>
                <a:cs typeface="Arial"/>
                <a:sym typeface="Arial"/>
              </a:rPr>
              <a:t>, but results were </a:t>
            </a:r>
            <a:r>
              <a:rPr b="1" lang="en-CA" sz="1100">
                <a:solidFill>
                  <a:srgbClr val="000000"/>
                </a:solidFill>
                <a:latin typeface="Arial"/>
                <a:ea typeface="Arial"/>
                <a:cs typeface="Arial"/>
                <a:sym typeface="Arial"/>
              </a:rPr>
              <a:t>less stable</a:t>
            </a:r>
            <a:r>
              <a:rPr lang="en-CA" sz="1100">
                <a:solidFill>
                  <a:srgbClr val="000000"/>
                </a:solidFill>
                <a:latin typeface="Arial"/>
                <a:ea typeface="Arial"/>
                <a:cs typeface="Arial"/>
                <a:sym typeface="Arial"/>
              </a:rPr>
              <a:t> due to the small sample.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CA" sz="1100">
                <a:solidFill>
                  <a:srgbClr val="000000"/>
                </a:solidFill>
                <a:latin typeface="Arial"/>
                <a:ea typeface="Arial"/>
                <a:cs typeface="Arial"/>
                <a:sym typeface="Arial"/>
              </a:rPr>
              <a:t>Hyperparameter tuning</a:t>
            </a:r>
            <a:r>
              <a:rPr lang="en-CA" sz="1100">
                <a:solidFill>
                  <a:srgbClr val="000000"/>
                </a:solidFill>
                <a:latin typeface="Arial"/>
                <a:ea typeface="Arial"/>
                <a:cs typeface="Arial"/>
                <a:sym typeface="Arial"/>
              </a:rPr>
              <a:t> was generally </a:t>
            </a:r>
            <a:r>
              <a:rPr b="1" lang="en-CA" sz="1100">
                <a:solidFill>
                  <a:srgbClr val="000000"/>
                </a:solidFill>
                <a:latin typeface="Arial"/>
                <a:ea typeface="Arial"/>
                <a:cs typeface="Arial"/>
                <a:sym typeface="Arial"/>
              </a:rPr>
              <a:t>not helpful for ML</a:t>
            </a:r>
            <a:r>
              <a:rPr lang="en-CA" sz="1100">
                <a:solidFill>
                  <a:srgbClr val="000000"/>
                </a:solidFill>
                <a:latin typeface="Arial"/>
                <a:ea typeface="Arial"/>
                <a:cs typeface="Arial"/>
                <a:sym typeface="Arial"/>
              </a:rPr>
              <a:t>, while it showed </a:t>
            </a:r>
            <a:r>
              <a:rPr b="1" lang="en-CA" sz="1100">
                <a:solidFill>
                  <a:srgbClr val="000000"/>
                </a:solidFill>
                <a:latin typeface="Arial"/>
                <a:ea typeface="Arial"/>
                <a:cs typeface="Arial"/>
                <a:sym typeface="Arial"/>
              </a:rPr>
              <a:t>potential gains for MLP</a:t>
            </a:r>
            <a:r>
              <a:rPr lang="en-CA" sz="1100">
                <a:solidFill>
                  <a:srgbClr val="000000"/>
                </a:solidFill>
                <a:latin typeface="Arial"/>
                <a:ea typeface="Arial"/>
                <a:cs typeface="Arial"/>
                <a:sym typeface="Arial"/>
              </a:rPr>
              <a:t> in selected setups.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CA" sz="1100">
                <a:solidFill>
                  <a:srgbClr val="000000"/>
                </a:solidFill>
                <a:latin typeface="Arial"/>
                <a:ea typeface="Arial"/>
                <a:cs typeface="Arial"/>
                <a:sym typeface="Arial"/>
              </a:rPr>
              <a:t>Overall, sentiment signals can help in some cases, but their benefit is </a:t>
            </a:r>
            <a:r>
              <a:rPr b="1" lang="en-CA" sz="1100">
                <a:solidFill>
                  <a:srgbClr val="000000"/>
                </a:solidFill>
                <a:latin typeface="Arial"/>
                <a:ea typeface="Arial"/>
                <a:cs typeface="Arial"/>
                <a:sym typeface="Arial"/>
              </a:rPr>
              <a:t>data- and regime-dependent</a:t>
            </a:r>
            <a:r>
              <a:rPr lang="en-CA" sz="1100">
                <a:solidFill>
                  <a:srgbClr val="000000"/>
                </a:solidFill>
                <a:latin typeface="Arial"/>
                <a:ea typeface="Arial"/>
                <a:cs typeface="Arial"/>
                <a:sym typeface="Arial"/>
              </a:rPr>
              <a:t>, so </a:t>
            </a:r>
            <a:r>
              <a:rPr b="1" lang="en-CA" sz="1100">
                <a:solidFill>
                  <a:srgbClr val="000000"/>
                </a:solidFill>
                <a:latin typeface="Arial"/>
                <a:ea typeface="Arial"/>
                <a:cs typeface="Arial"/>
                <a:sym typeface="Arial"/>
              </a:rPr>
              <a:t>time-series validation</a:t>
            </a:r>
            <a:r>
              <a:rPr lang="en-CA" sz="1100">
                <a:solidFill>
                  <a:srgbClr val="000000"/>
                </a:solidFill>
                <a:latin typeface="Arial"/>
                <a:ea typeface="Arial"/>
                <a:cs typeface="Arial"/>
                <a:sym typeface="Arial"/>
              </a:rPr>
              <a:t> is essential.</a:t>
            </a:r>
            <a:endParaRPr/>
          </a:p>
        </p:txBody>
      </p:sp>
      <p:pic>
        <p:nvPicPr>
          <p:cNvPr id="199" name="Google Shape;199;p26"/>
          <p:cNvPicPr preferRelativeResize="0"/>
          <p:nvPr/>
        </p:nvPicPr>
        <p:blipFill>
          <a:blip r:embed="rId3">
            <a:alphaModFix/>
          </a:blip>
          <a:stretch>
            <a:fillRect/>
          </a:stretch>
        </p:blipFill>
        <p:spPr>
          <a:xfrm>
            <a:off x="320425" y="1871025"/>
            <a:ext cx="3218275" cy="2148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Future Work</a:t>
            </a:r>
            <a:endParaRPr/>
          </a:p>
        </p:txBody>
      </p:sp>
      <p:sp>
        <p:nvSpPr>
          <p:cNvPr id="205" name="Google Shape;205;p27"/>
          <p:cNvSpPr txBox="1"/>
          <p:nvPr>
            <p:ph idx="1" type="body"/>
          </p:nvPr>
        </p:nvSpPr>
        <p:spPr>
          <a:xfrm>
            <a:off x="178700" y="2078875"/>
            <a:ext cx="4928700" cy="24693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Font typeface="Arial"/>
              <a:buChar char="●"/>
            </a:pPr>
            <a:r>
              <a:rPr lang="en-CA" sz="1100">
                <a:solidFill>
                  <a:srgbClr val="000000"/>
                </a:solidFill>
                <a:latin typeface="Arial"/>
                <a:ea typeface="Arial"/>
                <a:cs typeface="Arial"/>
                <a:sym typeface="Arial"/>
              </a:rPr>
              <a:t>Use </a:t>
            </a:r>
            <a:r>
              <a:rPr b="1" lang="en-CA" sz="1100">
                <a:solidFill>
                  <a:srgbClr val="000000"/>
                </a:solidFill>
                <a:latin typeface="Arial"/>
                <a:ea typeface="Arial"/>
                <a:cs typeface="Arial"/>
                <a:sym typeface="Arial"/>
              </a:rPr>
              <a:t>richer text methods</a:t>
            </a:r>
            <a:r>
              <a:rPr lang="en-CA" sz="1100">
                <a:solidFill>
                  <a:srgbClr val="000000"/>
                </a:solidFill>
                <a:latin typeface="Arial"/>
                <a:ea typeface="Arial"/>
                <a:cs typeface="Arial"/>
                <a:sym typeface="Arial"/>
              </a:rPr>
              <a:t> (e.g., transformer embeddings) instead of only VADER sentiment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CA" sz="1100">
                <a:solidFill>
                  <a:srgbClr val="000000"/>
                </a:solidFill>
                <a:latin typeface="Arial"/>
                <a:ea typeface="Arial"/>
                <a:cs typeface="Arial"/>
                <a:sym typeface="Arial"/>
              </a:rPr>
              <a:t>Test </a:t>
            </a:r>
            <a:r>
              <a:rPr b="1" lang="en-CA" sz="1100">
                <a:solidFill>
                  <a:srgbClr val="000000"/>
                </a:solidFill>
                <a:latin typeface="Arial"/>
                <a:ea typeface="Arial"/>
                <a:cs typeface="Arial"/>
                <a:sym typeface="Arial"/>
              </a:rPr>
              <a:t>time-aware models</a:t>
            </a:r>
            <a:r>
              <a:rPr lang="en-CA" sz="1100">
                <a:solidFill>
                  <a:srgbClr val="000000"/>
                </a:solidFill>
                <a:latin typeface="Arial"/>
                <a:ea typeface="Arial"/>
                <a:cs typeface="Arial"/>
                <a:sym typeface="Arial"/>
              </a:rPr>
              <a:t> (TCN / LSTM / Transformers) and </a:t>
            </a:r>
            <a:r>
              <a:rPr b="1" lang="en-CA" sz="1100">
                <a:solidFill>
                  <a:srgbClr val="000000"/>
                </a:solidFill>
                <a:latin typeface="Arial"/>
                <a:ea typeface="Arial"/>
                <a:cs typeface="Arial"/>
                <a:sym typeface="Arial"/>
              </a:rPr>
              <a:t>lagged sentiment</a:t>
            </a:r>
            <a:r>
              <a:rPr lang="en-CA" sz="1100">
                <a:solidFill>
                  <a:srgbClr val="000000"/>
                </a:solidFill>
                <a:latin typeface="Arial"/>
                <a:ea typeface="Arial"/>
                <a:cs typeface="Arial"/>
                <a:sym typeface="Arial"/>
              </a:rPr>
              <a:t> features for delayed effects.</a:t>
            </a:r>
            <a:br>
              <a:rPr lang="en-CA" sz="1100">
                <a:solidFill>
                  <a:srgbClr val="000000"/>
                </a:solidFill>
                <a:latin typeface="Arial"/>
                <a:ea typeface="Arial"/>
                <a:cs typeface="Arial"/>
                <a:sym typeface="Arial"/>
              </a:rPr>
            </a:br>
            <a:r>
              <a:rPr lang="en-CA" sz="1100">
                <a:solidFill>
                  <a:srgbClr val="000000"/>
                </a:solidFill>
                <a:latin typeface="Arial"/>
                <a:ea typeface="Arial"/>
                <a:cs typeface="Arial"/>
                <a:sym typeface="Arial"/>
              </a:rPr>
              <a:t>Add </a:t>
            </a:r>
            <a:r>
              <a:rPr b="1" lang="en-CA" sz="1100">
                <a:solidFill>
                  <a:srgbClr val="000000"/>
                </a:solidFill>
                <a:latin typeface="Arial"/>
                <a:ea typeface="Arial"/>
                <a:cs typeface="Arial"/>
                <a:sym typeface="Arial"/>
              </a:rPr>
              <a:t>regime-aware learning</a:t>
            </a:r>
            <a:r>
              <a:rPr lang="en-CA" sz="1100">
                <a:solidFill>
                  <a:srgbClr val="000000"/>
                </a:solidFill>
                <a:latin typeface="Arial"/>
                <a:ea typeface="Arial"/>
                <a:cs typeface="Arial"/>
                <a:sym typeface="Arial"/>
              </a:rPr>
              <a:t> (retraining schedules, volatility regimes)</a:t>
            </a:r>
            <a:r>
              <a:rPr lang="en-CA" sz="1100">
                <a:solidFill>
                  <a:srgbClr val="000000"/>
                </a:solidFill>
                <a:latin typeface="Arial"/>
                <a:ea typeface="Arial"/>
                <a:cs typeface="Arial"/>
                <a:sym typeface="Arial"/>
              </a:rPr>
              <a:t> </a:t>
            </a:r>
            <a:r>
              <a:rPr lang="en-CA" sz="1100">
                <a:solidFill>
                  <a:srgbClr val="000000"/>
                </a:solidFill>
                <a:latin typeface="Arial"/>
                <a:ea typeface="Arial"/>
                <a:cs typeface="Arial"/>
                <a:sym typeface="Arial"/>
              </a:rPr>
              <a:t>to handle market shifts.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CA" sz="1100">
                <a:solidFill>
                  <a:srgbClr val="000000"/>
                </a:solidFill>
                <a:latin typeface="Arial"/>
                <a:ea typeface="Arial"/>
                <a:cs typeface="Arial"/>
                <a:sym typeface="Arial"/>
              </a:rPr>
              <a:t>Evaluate </a:t>
            </a:r>
            <a:r>
              <a:rPr b="1" lang="en-CA" sz="1100">
                <a:solidFill>
                  <a:srgbClr val="000000"/>
                </a:solidFill>
                <a:latin typeface="Arial"/>
                <a:ea typeface="Arial"/>
                <a:cs typeface="Arial"/>
                <a:sym typeface="Arial"/>
              </a:rPr>
              <a:t>economic value</a:t>
            </a:r>
            <a:r>
              <a:rPr lang="en-CA" sz="1100">
                <a:solidFill>
                  <a:srgbClr val="000000"/>
                </a:solidFill>
                <a:latin typeface="Arial"/>
                <a:ea typeface="Arial"/>
                <a:cs typeface="Arial"/>
                <a:sym typeface="Arial"/>
              </a:rPr>
              <a:t> with trading simulation, including transaction costs and risk metrics</a:t>
            </a:r>
            <a:r>
              <a:rPr lang="en-CA"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CA" sz="1100">
                <a:solidFill>
                  <a:srgbClr val="000000"/>
                </a:solidFill>
                <a:latin typeface="Arial"/>
                <a:ea typeface="Arial"/>
                <a:cs typeface="Arial"/>
                <a:sym typeface="Arial"/>
              </a:rPr>
              <a:t>Extend features with </a:t>
            </a:r>
            <a:r>
              <a:rPr b="1" lang="en-CA" sz="1100">
                <a:solidFill>
                  <a:srgbClr val="000000"/>
                </a:solidFill>
                <a:latin typeface="Arial"/>
                <a:ea typeface="Arial"/>
                <a:cs typeface="Arial"/>
                <a:sym typeface="Arial"/>
              </a:rPr>
              <a:t>on-chain</a:t>
            </a:r>
            <a:r>
              <a:rPr lang="en-CA" sz="1100">
                <a:solidFill>
                  <a:srgbClr val="000000"/>
                </a:solidFill>
                <a:latin typeface="Arial"/>
                <a:ea typeface="Arial"/>
                <a:cs typeface="Arial"/>
                <a:sym typeface="Arial"/>
              </a:rPr>
              <a:t> and </a:t>
            </a:r>
            <a:r>
              <a:rPr b="1" lang="en-CA" sz="1100">
                <a:solidFill>
                  <a:srgbClr val="000000"/>
                </a:solidFill>
                <a:latin typeface="Arial"/>
                <a:ea typeface="Arial"/>
                <a:cs typeface="Arial"/>
                <a:sym typeface="Arial"/>
              </a:rPr>
              <a:t>derivatives</a:t>
            </a:r>
            <a:r>
              <a:rPr lang="en-CA" sz="1100">
                <a:solidFill>
                  <a:srgbClr val="000000"/>
                </a:solidFill>
                <a:latin typeface="Arial"/>
                <a:ea typeface="Arial"/>
                <a:cs typeface="Arial"/>
                <a:sym typeface="Arial"/>
              </a:rPr>
              <a:t> indicators and run stronger robustness checks.</a:t>
            </a:r>
            <a:endParaRPr/>
          </a:p>
        </p:txBody>
      </p:sp>
      <p:pic>
        <p:nvPicPr>
          <p:cNvPr id="206" name="Google Shape;206;p27"/>
          <p:cNvPicPr preferRelativeResize="0"/>
          <p:nvPr/>
        </p:nvPicPr>
        <p:blipFill>
          <a:blip r:embed="rId3">
            <a:alphaModFix/>
          </a:blip>
          <a:stretch>
            <a:fillRect/>
          </a:stretch>
        </p:blipFill>
        <p:spPr>
          <a:xfrm>
            <a:off x="5231775" y="2192950"/>
            <a:ext cx="3731800" cy="196902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txBox="1"/>
          <p:nvPr>
            <p:ph type="title"/>
          </p:nvPr>
        </p:nvSpPr>
        <p:spPr>
          <a:xfrm>
            <a:off x="890900" y="999225"/>
            <a:ext cx="7511700" cy="167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t/>
            </a:r>
            <a:endParaRPr sz="3640"/>
          </a:p>
          <a:p>
            <a:pPr indent="0" lvl="0" marL="0" rtl="0" algn="l">
              <a:spcBef>
                <a:spcPts val="0"/>
              </a:spcBef>
              <a:spcAft>
                <a:spcPts val="0"/>
              </a:spcAft>
              <a:buSzPts val="990"/>
              <a:buNone/>
            </a:pPr>
            <a:r>
              <a:rPr lang="en-CA" sz="3640"/>
              <a:t>THANK YOU FOR LİSTENİNG </a:t>
            </a:r>
            <a:endParaRPr sz="3640"/>
          </a:p>
        </p:txBody>
      </p:sp>
      <p:pic>
        <p:nvPicPr>
          <p:cNvPr id="212" name="Google Shape;212;p28"/>
          <p:cNvPicPr preferRelativeResize="0"/>
          <p:nvPr/>
        </p:nvPicPr>
        <p:blipFill>
          <a:blip r:embed="rId3">
            <a:alphaModFix/>
          </a:blip>
          <a:stretch>
            <a:fillRect/>
          </a:stretch>
        </p:blipFill>
        <p:spPr>
          <a:xfrm>
            <a:off x="2570125" y="2385050"/>
            <a:ext cx="3283926" cy="25277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cp:lastModifiedBy/>
  <cp:revision>1</cp:revision>
  <dcterms:modified xsi:type="dcterms:W3CDTF">2026-10-09T21:41:10Z</dcterms:modified>
  <dc:creator/>
</cp:coreProperties>
</file>